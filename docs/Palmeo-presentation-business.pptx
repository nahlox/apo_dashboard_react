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 algn="l">
              <a:defRPr sz="1200" b="0" i="0" u="none" strike="noStrike">
                <a:solidFill>
                  <a:srgbClr val="6B7865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6B7865"/>
                </a:solidFill>
                <a:latin typeface="Calibri"/>
              </a:rPr>
              <a:t>Chiffre d'affaires et résultat net — en millions de FCFA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Chiffre d'affaires</c:v>
                </c:pt>
              </c:strCache>
            </c:strRef>
          </c:tx>
          <c:spPr>
            <a:solidFill>
              <a:srgbClr val="F28C28"/>
            </a:solidFill>
            <a:effectLst/>
          </c:spPr>
          <c:invertIfNegative val="0"/>
          <c:dLbls>
            <c:numFmt formatCode="#,##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4261C"/>
                    </a:solidFill>
                    <a:latin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Janvier</c:v>
                  </c:pt>
                  <c:pt idx="1">
                    <c:v>Février</c:v>
                  </c:pt>
                  <c:pt idx="2">
                    <c:v>Mars</c:v>
                  </c:pt>
                  <c:pt idx="3">
                    <c:v>Avril</c:v>
                  </c:pt>
                  <c:pt idx="4">
                    <c:v>Mai</c:v>
                  </c:pt>
                  <c:pt idx="5">
                    <c:v>Juin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277.5</c:v>
                </c:pt>
                <c:pt idx="1">
                  <c:v>312.1</c:v>
                </c:pt>
                <c:pt idx="2">
                  <c:v>355.2</c:v>
                </c:pt>
                <c:pt idx="3">
                  <c:v>375.2</c:v>
                </c:pt>
                <c:pt idx="4">
                  <c:v>342.3</c:v>
                </c:pt>
                <c:pt idx="5">
                  <c:v>398.6</c:v>
                </c:pt>
              </c:numCache>
            </c:numRef>
          </c:val>
        </c:ser>
        <c:dLbls>
          <c:numFmt formatCode="#,##0.0" sourceLinked="0"/>
          <c:txPr>
            <a:bodyPr/>
            <a:lstStyle/>
            <a:p>
              <a:pPr>
                <a:defRPr b="0" i="0" strike="noStrike" sz="900" u="none">
                  <a:solidFill>
                    <a:srgbClr val="14261C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Résultat net</c:v>
                </c:pt>
              </c:strCache>
            </c:strRef>
          </c:tx>
          <c:spPr>
            <a:solidFill>
              <a:srgbClr val="3FA34D"/>
            </a:solidFill>
            <a:ln w="38100" cap="flat">
              <a:solidFill>
                <a:srgbClr val="3FA34D"/>
              </a:solidFill>
              <a:prstDash val="solid"/>
              <a:round/>
            </a:ln>
            <a:effectLst/>
          </c:spPr>
          <c:invertIfNegative val="0"/>
          <c:dLbls>
            <c:numFmt formatCode="#,##0.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3FA34D"/>
              </a:solidFill>
              <a:ln w="1" cap="flat">
                <a:solidFill>
                  <a:srgbClr val="3FA34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Janvier</c:v>
                  </c:pt>
                  <c:pt idx="1">
                    <c:v>Février</c:v>
                  </c:pt>
                  <c:pt idx="2">
                    <c:v>Mars</c:v>
                  </c:pt>
                  <c:pt idx="3">
                    <c:v>Avril</c:v>
                  </c:pt>
                  <c:pt idx="4">
                    <c:v>Mai</c:v>
                  </c:pt>
                  <c:pt idx="5">
                    <c:v>Juin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31.2</c:v>
                </c:pt>
                <c:pt idx="1">
                  <c:v>38.6</c:v>
                </c:pt>
                <c:pt idx="2">
                  <c:v>47.1</c:v>
                </c:pt>
                <c:pt idx="3">
                  <c:v>52.4</c:v>
                </c:pt>
                <c:pt idx="4">
                  <c:v>34.9</c:v>
                </c:pt>
                <c:pt idx="5">
                  <c:v>53.8</c:v>
                </c:pt>
              </c:numCache>
            </c:numRef>
          </c:val>
          <c:smooth val="0"/>
        </c:ser>
        <c:dLbls>
          <c:numFmt formatCode="#,##0.0" sourceLinked="0"/>
          <c:txPr>
            <a:bodyPr/>
            <a:lstStyle/>
            <a:p>
              <a:pPr>
                <a:defRPr b="1" i="0" strike="noStrike" sz="1000" u="none">
                  <a:solidFill>
                    <a:srgbClr val="FFFFFF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865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60"/>
          <c:min val="0"/>
        </c:scaling>
        <c:delete val="0"/>
        <c:axPos val="l"/>
        <c:majorGridlines>
          <c:spPr>
            <a:ln w="9525" cap="flat">
              <a:solidFill>
                <a:srgbClr val="DCE3D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865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6B7865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 algn="l">
              <a:defRPr sz="1200" b="0" i="0" u="none" strike="noStrike">
                <a:solidFill>
                  <a:srgbClr val="6B7865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6B7865"/>
                </a:solidFill>
                <a:latin typeface="Calibri"/>
              </a:rPr>
              <a:t>Charges d'exploitation de juin — répartition en %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Part des charges</c:v>
                </c:pt>
              </c:strCache>
            </c:strRef>
          </c:tx>
          <c:spPr>
            <a:solidFill>
              <a:srgbClr val="3FA34D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4261C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FA34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FA34D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FA34D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3FA34D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3FA34D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3FA34D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F28C28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F28C28"/>
              </a:solidFill>
              <a:effectLst/>
            </c:spPr>
          </c:dPt>
          <c:cat>
            <c:multiLvlStrRef>
              <c:f>Sheet1!$A$2:$A$9</c:f>
              <c:multiLvlStrCache>
                <c:ptCount val="8"/>
                <c:lvl>
                  <c:pt idx="0">
                    <c:v>Divers</c:v>
                  </c:pt>
                  <c:pt idx="1">
                    <c:v>Frais bancaires</c:v>
                  </c:pt>
                  <c:pt idx="2">
                    <c:v>Administratif</c:v>
                  </c:pt>
                  <c:pt idx="3">
                    <c:v>Consommables</c:v>
                  </c:pt>
                  <c:pt idx="4">
                    <c:v>Maintenance</c:v>
                  </c:pt>
                  <c:pt idx="5">
                    <c:v>Transport</c:v>
                  </c:pt>
                  <c:pt idx="6">
                    <c:v>Carburant &amp; énergie</c:v>
                  </c:pt>
                  <c:pt idx="7">
                    <c:v>Salaires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3.1</c:v>
                </c:pt>
                <c:pt idx="1">
                  <c:v>3.3</c:v>
                </c:pt>
                <c:pt idx="2">
                  <c:v>3.8</c:v>
                </c:pt>
                <c:pt idx="3">
                  <c:v>6.1</c:v>
                </c:pt>
                <c:pt idx="4">
                  <c:v>11</c:v>
                </c:pt>
                <c:pt idx="5">
                  <c:v>13.8</c:v>
                </c:pt>
                <c:pt idx="6">
                  <c:v>21.9</c:v>
                </c:pt>
                <c:pt idx="7">
                  <c:v>37.1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14261C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4261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0"/>
          <c:min val="0"/>
        </c:scaling>
        <c:delete val="0"/>
        <c:axPos val="b"/>
        <c:majorGridlines>
          <c:spPr>
            <a:ln w="9525" cap="flat">
              <a:solidFill>
                <a:srgbClr val="DCE3D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865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 algn="l">
              <a:defRPr sz="1200" b="0" i="0" u="none" strike="noStrike">
                <a:solidFill>
                  <a:srgbClr val="6B7865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6B7865"/>
                </a:solidFill>
                <a:latin typeface="Calibri"/>
              </a:rPr>
              <a:t>TE journalier de juin — en %  ·  moyenne du mois : 21,5 %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Taux d'extraction journalier</c:v>
                </c:pt>
              </c:strCache>
            </c:strRef>
          </c:tx>
          <c:spPr>
            <a:solidFill>
              <a:srgbClr val="3FA34D"/>
            </a:solidFill>
            <a:ln w="31750" cap="flat">
              <a:solidFill>
                <a:srgbClr val="3FA34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3FA34D"/>
              </a:solidFill>
              <a:ln w="9525" cap="flat">
                <a:solidFill>
                  <a:srgbClr val="3FA34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Sheet1!$A$2:$A$31</c:f>
              <c:multiLvlStrCache>
                <c:ptCount val="30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  <c:pt idx="12">
                    <c:v>13</c:v>
                  </c:pt>
                  <c:pt idx="13">
                    <c:v>14</c:v>
                  </c:pt>
                  <c:pt idx="14">
                    <c:v>15</c:v>
                  </c:pt>
                  <c:pt idx="15">
                    <c:v>16</c:v>
                  </c:pt>
                  <c:pt idx="16">
                    <c:v>17</c:v>
                  </c:pt>
                  <c:pt idx="17">
                    <c:v>18</c:v>
                  </c:pt>
                  <c:pt idx="18">
                    <c:v>19</c:v>
                  </c:pt>
                  <c:pt idx="19">
                    <c:v>20</c:v>
                  </c:pt>
                  <c:pt idx="20">
                    <c:v>21</c:v>
                  </c:pt>
                  <c:pt idx="21">
                    <c:v>22</c:v>
                  </c:pt>
                  <c:pt idx="22">
                    <c:v>23</c:v>
                  </c:pt>
                  <c:pt idx="23">
                    <c:v>24</c:v>
                  </c:pt>
                  <c:pt idx="24">
                    <c:v>25</c:v>
                  </c:pt>
                  <c:pt idx="25">
                    <c:v>26</c:v>
                  </c:pt>
                  <c:pt idx="26">
                    <c:v>27</c:v>
                  </c:pt>
                  <c:pt idx="27">
                    <c:v>28</c:v>
                  </c:pt>
                  <c:pt idx="28">
                    <c:v>29</c:v>
                  </c:pt>
                  <c:pt idx="29">
                    <c:v>30</c:v>
                  </c:pt>
                </c:lvl>
              </c:multiLvlStrCache>
            </c:multiLvlStrRef>
          </c:cat>
          <c:val>
            <c:numRef>
              <c:f>Sheet1!$B$2:$B$31</c:f>
              <c:numCache>
                <c:formatCode>General</c:formatCode>
                <c:ptCount val="30"/>
                <c:pt idx="0">
                  <c:v>21.8</c:v>
                </c:pt>
                <c:pt idx="1">
                  <c:v>21.5</c:v>
                </c:pt>
                <c:pt idx="2">
                  <c:v>22.1</c:v>
                </c:pt>
                <c:pt idx="3">
                  <c:v>20.9</c:v>
                </c:pt>
                <c:pt idx="4">
                  <c:v>21.4</c:v>
                </c:pt>
                <c:pt idx="5">
                  <c:v>22.3</c:v>
                </c:pt>
                <c:pt idx="6">
                  <c:v>21.7</c:v>
                </c:pt>
                <c:pt idx="7">
                  <c:v>20.6</c:v>
                </c:pt>
                <c:pt idx="8">
                  <c:v>21.9</c:v>
                </c:pt>
                <c:pt idx="9">
                  <c:v>22</c:v>
                </c:pt>
                <c:pt idx="10">
                  <c:v>21.2</c:v>
                </c:pt>
                <c:pt idx="11">
                  <c:v>21.6</c:v>
                </c:pt>
                <c:pt idx="12">
                  <c:v>22.4</c:v>
                </c:pt>
                <c:pt idx="13">
                  <c:v>21.1</c:v>
                </c:pt>
                <c:pt idx="14">
                  <c:v>20.8</c:v>
                </c:pt>
                <c:pt idx="15">
                  <c:v>21.5</c:v>
                </c:pt>
                <c:pt idx="16">
                  <c:v>22.2</c:v>
                </c:pt>
                <c:pt idx="17">
                  <c:v>21.3</c:v>
                </c:pt>
                <c:pt idx="18">
                  <c:v>21.8</c:v>
                </c:pt>
                <c:pt idx="19">
                  <c:v>22</c:v>
                </c:pt>
                <c:pt idx="20">
                  <c:v>21.4</c:v>
                </c:pt>
                <c:pt idx="21">
                  <c:v>20.7</c:v>
                </c:pt>
                <c:pt idx="22">
                  <c:v>21.9</c:v>
                </c:pt>
                <c:pt idx="23">
                  <c:v>22.1</c:v>
                </c:pt>
                <c:pt idx="24">
                  <c:v>21.6</c:v>
                </c:pt>
                <c:pt idx="25">
                  <c:v>21</c:v>
                </c:pt>
                <c:pt idx="26">
                  <c:v>21.7</c:v>
                </c:pt>
                <c:pt idx="27">
                  <c:v>22.3</c:v>
                </c:pt>
                <c:pt idx="28">
                  <c:v>21.5</c:v>
                </c:pt>
                <c:pt idx="29">
                  <c:v>21.2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Seuil d'alerte (19 %)</c:v>
                </c:pt>
              </c:strCache>
            </c:strRef>
          </c:tx>
          <c:spPr>
            <a:solidFill>
              <a:srgbClr val="E05C5C"/>
            </a:solidFill>
            <a:ln w="31750" cap="flat">
              <a:solidFill>
                <a:srgbClr val="E05C5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05C5C"/>
              </a:solidFill>
              <a:ln w="9525" cap="flat">
                <a:solidFill>
                  <a:srgbClr val="E05C5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Sheet1!$A$2:$A$31</c:f>
              <c:multiLvlStrCache>
                <c:ptCount val="30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  <c:pt idx="12">
                    <c:v>13</c:v>
                  </c:pt>
                  <c:pt idx="13">
                    <c:v>14</c:v>
                  </c:pt>
                  <c:pt idx="14">
                    <c:v>15</c:v>
                  </c:pt>
                  <c:pt idx="15">
                    <c:v>16</c:v>
                  </c:pt>
                  <c:pt idx="16">
                    <c:v>17</c:v>
                  </c:pt>
                  <c:pt idx="17">
                    <c:v>18</c:v>
                  </c:pt>
                  <c:pt idx="18">
                    <c:v>19</c:v>
                  </c:pt>
                  <c:pt idx="19">
                    <c:v>20</c:v>
                  </c:pt>
                  <c:pt idx="20">
                    <c:v>21</c:v>
                  </c:pt>
                  <c:pt idx="21">
                    <c:v>22</c:v>
                  </c:pt>
                  <c:pt idx="22">
                    <c:v>23</c:v>
                  </c:pt>
                  <c:pt idx="23">
                    <c:v>24</c:v>
                  </c:pt>
                  <c:pt idx="24">
                    <c:v>25</c:v>
                  </c:pt>
                  <c:pt idx="25">
                    <c:v>26</c:v>
                  </c:pt>
                  <c:pt idx="26">
                    <c:v>27</c:v>
                  </c:pt>
                  <c:pt idx="27">
                    <c:v>28</c:v>
                  </c:pt>
                  <c:pt idx="28">
                    <c:v>29</c:v>
                  </c:pt>
                  <c:pt idx="29">
                    <c:v>30</c:v>
                  </c:pt>
                </c:lvl>
              </c:multiLvlStrCache>
            </c:multiLvlStrRef>
          </c:cat>
          <c:val>
            <c:numRef>
              <c:f>Sheet1!$C$2:$C$31</c:f>
              <c:numCache>
                <c:formatCode>General</c:formatCode>
                <c:ptCount val="30"/>
                <c:pt idx="0">
                  <c:v>19</c:v>
                </c:pt>
                <c:pt idx="1">
                  <c:v>19</c:v>
                </c:pt>
                <c:pt idx="2">
                  <c:v>19</c:v>
                </c:pt>
                <c:pt idx="3">
                  <c:v>19</c:v>
                </c:pt>
                <c:pt idx="4">
                  <c:v>19</c:v>
                </c:pt>
                <c:pt idx="5">
                  <c:v>19</c:v>
                </c:pt>
                <c:pt idx="6">
                  <c:v>19</c:v>
                </c:pt>
                <c:pt idx="7">
                  <c:v>19</c:v>
                </c:pt>
                <c:pt idx="8">
                  <c:v>19</c:v>
                </c:pt>
                <c:pt idx="9">
                  <c:v>19</c:v>
                </c:pt>
                <c:pt idx="10">
                  <c:v>19</c:v>
                </c:pt>
                <c:pt idx="11">
                  <c:v>19</c:v>
                </c:pt>
                <c:pt idx="12">
                  <c:v>19</c:v>
                </c:pt>
                <c:pt idx="13">
                  <c:v>19</c:v>
                </c:pt>
                <c:pt idx="14">
                  <c:v>19</c:v>
                </c:pt>
                <c:pt idx="15">
                  <c:v>19</c:v>
                </c:pt>
                <c:pt idx="16">
                  <c:v>19</c:v>
                </c:pt>
                <c:pt idx="17">
                  <c:v>19</c:v>
                </c:pt>
                <c:pt idx="18">
                  <c:v>19</c:v>
                </c:pt>
                <c:pt idx="19">
                  <c:v>19</c:v>
                </c:pt>
                <c:pt idx="20">
                  <c:v>19</c:v>
                </c:pt>
                <c:pt idx="21">
                  <c:v>19</c:v>
                </c:pt>
                <c:pt idx="22">
                  <c:v>19</c:v>
                </c:pt>
                <c:pt idx="23">
                  <c:v>19</c:v>
                </c:pt>
                <c:pt idx="24">
                  <c:v>19</c:v>
                </c:pt>
                <c:pt idx="25">
                  <c:v>19</c:v>
                </c:pt>
                <c:pt idx="26">
                  <c:v>19</c:v>
                </c:pt>
                <c:pt idx="27">
                  <c:v>19</c:v>
                </c:pt>
                <c:pt idx="28">
                  <c:v>19</c:v>
                </c:pt>
                <c:pt idx="29">
                  <c:v>19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6B7865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3"/>
          <c:min val="18"/>
        </c:scaling>
        <c:delete val="0"/>
        <c:axPos val="l"/>
        <c:majorGridlines>
          <c:spPr>
            <a:ln w="9525" cap="flat">
              <a:solidFill>
                <a:srgbClr val="DCE3D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865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50">
              <a:solidFill>
                <a:srgbClr val="6B7865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Palmeo est la plateforme SaaS née du dashboard construit pour APO (Agro Palm Oil, Côte d'Ivoire). Le produit est aujourd'hui en production sur ce client fondateur et l'architecture a été industrialisée pour accueillir d'autres huileries sans réécrire de code métier.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Huit sections. L'objectif : montrer le produit, le modèle et le niveau de maturité réel.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point de départ réel du projet : 8 classeurs Excel synchronisés sur Dropbox. C'est le cas type du secteur — la donnée existe, elle est juste inexploitable en l'état.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valeur n'est pas « un beau dashboard » : c'est le raccourcissement du délai entre un fait d'usine et la décision qu'il devrait déclencher.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navigation réelle de l'app : Pilotage (5 modules), Documents (comptes de résultat mensuels), Plateforme (console admin, visible uniquement pour les super-admins).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cartes, une seule lecture. Le « revenu net par tonne » est l'indicateur que les dirigeants d'huilerie utilisent spontanément pour se comparer : Palmeo le calcule sur les tonnes produites, pas livrées — c'est la règle de calcul officielle inscrite dans le moteur de KPI.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 graphique combiné natif PowerPoint : barres = CA, courbe = résultat net, même axe (M FCFA). Dans l'application, les mêmes séries se recalculent à chaque import ETL.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business clé : la ventilation n'est pas paramétrée à la main par client. La table compte_mappings porte les défauts SYSCOHADA au niveau plateforme ; un client Sage n'a qu'à surcharger ses exceptions.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C'est le meilleur argument commercial du produit : le TE est directement monétisable. Un client qui récupère un demi-point de TE rembourse largement l'abonnement.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Différenciateur central face à un simple outil de BI : l'assistant génère du SQL, l'exécute et cite ses chiffres. Sécurité : SELECT uniquement, liste noire de tables système, filtrage tenant forcé, quota journalier.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Push web (VAPID) + email transactionnel (Resend), tous deux déclenchés par cron. C'est ce qui distingue un outil utilisé d'un outil abandonné après trois semaines.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compte de résultat est le livrable qui justifie l'abonnement auprès du dirigeant ET de son comptable. Le dénominateur « par tonne » est celui des tonnes produites, pas livrées — règle métier verrouillée par test.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Honnêteté requise en avant-vente : le formulaire d'onboarding documente la source, il ne la branche pas automatiquement. Excel/Dropbox et Sage sont outillés ; tout le reste demande un script d'import dédié, à chiffrer dans la proposition.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Traduction business : le coût marginal d'un client supplémentaire est un coût d'onboarding, pas un coût de développement — condition nécessaire pour vendre autre chose que du sur-mesure.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délai d'onboarding réel dépend presque entièrement de l'étape 3. C'est le levier n°1 pour réduire le coût d'acquisition et raccourcir le time-to-value.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console admin est la vraie condition du passage à l'échelle : sans elle, chaque incident client remonte au développeur et la marge brute du SaaS s'effondre.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volontairement honnête : les six points de droite sont les limites documentées dans le dépôt. Aucun n'est bloquant pour une démonstration ; tous le sont pour une vente en volume.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 pas annoncer de prix : rien dans la plateforme n'en fixe. Les paliers starter / business / enterprise sont réels (contrainte de base de données) ; la grille est à construire, en tenant compte du coût réel d'intégration qui varie fortement selon la source de données.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Fin. Le produit existe et tourne ; ce qui manque relève de l'industrialisation et de la décision commerciale, pas de la faisabilité technique.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80960" y="-1371600"/>
            <a:ext cx="6583680" cy="6583680"/>
          </a:xfrm>
          <a:prstGeom prst="ellipse">
            <a:avLst/>
          </a:prstGeom>
          <a:solidFill>
            <a:srgbClr val="3FA34D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326880" y="3108960"/>
            <a:ext cx="4572000" cy="4572000"/>
          </a:xfrm>
          <a:prstGeom prst="ellipse">
            <a:avLst/>
          </a:prstGeom>
          <a:solidFill>
            <a:srgbClr val="F28C28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566928"/>
            <a:ext cx="475488" cy="475488"/>
          </a:xfrm>
          <a:prstGeom prst="ellipse">
            <a:avLst/>
          </a:prstGeom>
          <a:solidFill>
            <a:srgbClr val="3FA34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585216"/>
            <a:ext cx="475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261872" y="56692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palmeo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874520"/>
            <a:ext cx="79552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6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Pilotez votre huilerie</a:t>
            </a:r>
            <a:endParaRPr lang="en-US" sz="5000" dirty="0"/>
          </a:p>
          <a:p>
            <a:pPr indent="0" marL="0">
              <a:lnSpc>
                <a:spcPts val="56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temps réel</a:t>
            </a:r>
            <a:endParaRPr lang="en-US" sz="50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4041648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9DA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plateforme d'intelligence opérationnelle des huileries de palme :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9DA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production, marge et compte de résultat, tous les matins, sur un seul écran.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5074920"/>
            <a:ext cx="2048256" cy="420624"/>
          </a:xfrm>
          <a:prstGeom prst="roundRect">
            <a:avLst>
              <a:gd name="adj" fmla="val 50000"/>
            </a:avLst>
          </a:prstGeom>
          <a:solidFill>
            <a:srgbClr val="1A3323"/>
          </a:solidFill>
          <a:ln w="9525">
            <a:solidFill>
              <a:srgbClr val="3FA34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5074920"/>
            <a:ext cx="20482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8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SaaS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852928" y="5074920"/>
            <a:ext cx="2048256" cy="420624"/>
          </a:xfrm>
          <a:prstGeom prst="roundRect">
            <a:avLst>
              <a:gd name="adj" fmla="val 50000"/>
            </a:avLst>
          </a:prstGeom>
          <a:solidFill>
            <a:srgbClr val="1A3323"/>
          </a:solidFill>
          <a:ln w="9525">
            <a:solidFill>
              <a:srgbClr val="3FA34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852928" y="5074920"/>
            <a:ext cx="20482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8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embarquée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65776" y="5074920"/>
            <a:ext cx="2048256" cy="420624"/>
          </a:xfrm>
          <a:prstGeom prst="roundRect">
            <a:avLst>
              <a:gd name="adj" fmla="val 50000"/>
            </a:avLst>
          </a:prstGeom>
          <a:solidFill>
            <a:srgbClr val="1A3323"/>
          </a:solidFill>
          <a:ln w="9525">
            <a:solidFill>
              <a:srgbClr val="3FA34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065776" y="5074920"/>
            <a:ext cx="20482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8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&amp; mobile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278624" y="5074920"/>
            <a:ext cx="2048256" cy="420624"/>
          </a:xfrm>
          <a:prstGeom prst="roundRect">
            <a:avLst>
              <a:gd name="adj" fmla="val 50000"/>
            </a:avLst>
          </a:prstGeom>
          <a:solidFill>
            <a:srgbClr val="1A3323"/>
          </a:solidFill>
          <a:ln w="9525">
            <a:solidFill>
              <a:srgbClr val="3FA34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278624" y="5074920"/>
            <a:ext cx="20482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8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FCFA / EUR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6053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A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business  ·  Périmètre : plateforme complète  · 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SOMMAIRE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21792"/>
            <a:ext cx="109115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1426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que couvre cette présentation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303520" cy="932688"/>
          </a:xfrm>
          <a:prstGeom prst="roundRect">
            <a:avLst>
              <a:gd name="adj" fmla="val 10784"/>
            </a:avLst>
          </a:prstGeom>
          <a:solidFill>
            <a:srgbClr val="F3F7F1"/>
          </a:solidFill>
          <a:ln w="6350">
            <a:solidFill>
              <a:srgbClr val="F3F7F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77824" y="1947672"/>
            <a:ext cx="420624" cy="420624"/>
          </a:xfrm>
          <a:prstGeom prst="ellipse">
            <a:avLst/>
          </a:prstGeom>
          <a:solidFill>
            <a:srgbClr val="3FA34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77824" y="1965960"/>
            <a:ext cx="420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444752" y="1847088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problème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1444752" y="216712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8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une huilerie pilote à l'aveugle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309360" y="1691640"/>
            <a:ext cx="5303520" cy="932688"/>
          </a:xfrm>
          <a:prstGeom prst="roundRect">
            <a:avLst>
              <a:gd name="adj" fmla="val 10784"/>
            </a:avLst>
          </a:prstGeom>
          <a:solidFill>
            <a:srgbClr val="F3F7F1"/>
          </a:solidFill>
          <a:ln w="6350">
            <a:solidFill>
              <a:srgbClr val="F3F7F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47104" y="1947672"/>
            <a:ext cx="420624" cy="420624"/>
          </a:xfrm>
          <a:prstGeom prst="ellipse">
            <a:avLst/>
          </a:prstGeom>
          <a:solidFill>
            <a:srgbClr val="F28C2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47104" y="1965960"/>
            <a:ext cx="420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7114032" y="1847088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proposition de valeur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7114032" y="216712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8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Palmeo change concrètement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2807208"/>
            <a:ext cx="5303520" cy="932688"/>
          </a:xfrm>
          <a:prstGeom prst="roundRect">
            <a:avLst>
              <a:gd name="adj" fmla="val 10784"/>
            </a:avLst>
          </a:prstGeom>
          <a:solidFill>
            <a:srgbClr val="F3F7F1"/>
          </a:solidFill>
          <a:ln w="6350">
            <a:solidFill>
              <a:srgbClr val="F3F7F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77824" y="3063240"/>
            <a:ext cx="420624" cy="420624"/>
          </a:xfrm>
          <a:prstGeom prst="ellipse">
            <a:avLst/>
          </a:prstGeom>
          <a:solidFill>
            <a:srgbClr val="3FA34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77824" y="3081528"/>
            <a:ext cx="420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444752" y="2962656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produit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1444752" y="3282696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8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Modules, KPI, compte de résultat, IA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309360" y="2807208"/>
            <a:ext cx="5303520" cy="932688"/>
          </a:xfrm>
          <a:prstGeom prst="roundRect">
            <a:avLst>
              <a:gd name="adj" fmla="val 10784"/>
            </a:avLst>
          </a:prstGeom>
          <a:solidFill>
            <a:srgbClr val="F3F7F1"/>
          </a:solidFill>
          <a:ln w="6350">
            <a:solidFill>
              <a:srgbClr val="F3F7F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47104" y="3063240"/>
            <a:ext cx="420624" cy="420624"/>
          </a:xfrm>
          <a:prstGeom prst="ellipse">
            <a:avLst/>
          </a:prstGeom>
          <a:solidFill>
            <a:srgbClr val="F28C28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47104" y="3081528"/>
            <a:ext cx="420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7114032" y="2962656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preuve par les chiffres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7114032" y="3282696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8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Trajectoire, coûts, rendement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3922776"/>
            <a:ext cx="5303520" cy="932688"/>
          </a:xfrm>
          <a:prstGeom prst="roundRect">
            <a:avLst>
              <a:gd name="adj" fmla="val 10784"/>
            </a:avLst>
          </a:prstGeom>
          <a:solidFill>
            <a:srgbClr val="F3F7F1"/>
          </a:solidFill>
          <a:ln w="6350">
            <a:solidFill>
              <a:srgbClr val="F3F7F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7824" y="4178808"/>
            <a:ext cx="420624" cy="420624"/>
          </a:xfrm>
          <a:prstGeom prst="ellipse">
            <a:avLst/>
          </a:prstGeom>
          <a:solidFill>
            <a:srgbClr val="3FA34D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77824" y="4197096"/>
            <a:ext cx="420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1444752" y="4078224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L'adaptation à l'existant</a:t>
            </a:r>
            <a:endParaRPr lang="en-US" sz="1450" dirty="0"/>
          </a:p>
        </p:txBody>
      </p:sp>
      <p:sp>
        <p:nvSpPr>
          <p:cNvPr id="28" name="Text 26"/>
          <p:cNvSpPr txBox="1"/>
          <p:nvPr/>
        </p:nvSpPr>
        <p:spPr>
          <a:xfrm>
            <a:off x="1444752" y="4398264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8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sources de données, 3 modèles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309360" y="3922776"/>
            <a:ext cx="5303520" cy="932688"/>
          </a:xfrm>
          <a:prstGeom prst="roundRect">
            <a:avLst>
              <a:gd name="adj" fmla="val 10784"/>
            </a:avLst>
          </a:prstGeom>
          <a:solidFill>
            <a:srgbClr val="F3F7F1"/>
          </a:solidFill>
          <a:ln w="6350">
            <a:solidFill>
              <a:srgbClr val="F3F7F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547104" y="4178808"/>
            <a:ext cx="420624" cy="420624"/>
          </a:xfrm>
          <a:prstGeom prst="ellipse">
            <a:avLst/>
          </a:prstGeom>
          <a:solidFill>
            <a:srgbClr val="F28C28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547104" y="4197096"/>
            <a:ext cx="420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7114032" y="4078224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L'architecture qui scale</a:t>
            </a:r>
            <a:endParaRPr lang="en-US" sz="1450" dirty="0"/>
          </a:p>
        </p:txBody>
      </p:sp>
      <p:sp>
        <p:nvSpPr>
          <p:cNvPr id="33" name="Text 31"/>
          <p:cNvSpPr txBox="1"/>
          <p:nvPr/>
        </p:nvSpPr>
        <p:spPr>
          <a:xfrm>
            <a:off x="7114032" y="4398264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8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Multi-tenant, sécurité, accueil client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40080" y="5038344"/>
            <a:ext cx="5303520" cy="932688"/>
          </a:xfrm>
          <a:prstGeom prst="roundRect">
            <a:avLst>
              <a:gd name="adj" fmla="val 10784"/>
            </a:avLst>
          </a:prstGeom>
          <a:solidFill>
            <a:srgbClr val="F3F7F1"/>
          </a:solidFill>
          <a:ln w="6350">
            <a:solidFill>
              <a:srgbClr val="F3F7F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77824" y="5294376"/>
            <a:ext cx="420624" cy="420624"/>
          </a:xfrm>
          <a:prstGeom prst="ellipse">
            <a:avLst/>
          </a:prstGeom>
          <a:solidFill>
            <a:srgbClr val="3FA34D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877824" y="5312664"/>
            <a:ext cx="420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1444752" y="5193792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État d'avancement</a:t>
            </a:r>
            <a:endParaRPr lang="en-US" sz="1450" dirty="0"/>
          </a:p>
        </p:txBody>
      </p:sp>
      <p:sp>
        <p:nvSpPr>
          <p:cNvPr id="38" name="Text 36"/>
          <p:cNvSpPr txBox="1"/>
          <p:nvPr/>
        </p:nvSpPr>
        <p:spPr>
          <a:xfrm>
            <a:off x="1444752" y="551383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8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qui est livré, ce qui reste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6309360" y="5038344"/>
            <a:ext cx="5303520" cy="932688"/>
          </a:xfrm>
          <a:prstGeom prst="roundRect">
            <a:avLst>
              <a:gd name="adj" fmla="val 10784"/>
            </a:avLst>
          </a:prstGeom>
          <a:solidFill>
            <a:srgbClr val="F3F7F1"/>
          </a:solidFill>
          <a:ln w="6350">
            <a:solidFill>
              <a:srgbClr val="F3F7F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547104" y="5294376"/>
            <a:ext cx="420624" cy="420624"/>
          </a:xfrm>
          <a:prstGeom prst="ellipse">
            <a:avLst/>
          </a:prstGeom>
          <a:solidFill>
            <a:srgbClr val="F28C28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6547104" y="5312664"/>
            <a:ext cx="420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7114032" y="5193792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Prochaines étapes</a:t>
            </a:r>
            <a:endParaRPr lang="en-US" sz="1450" dirty="0"/>
          </a:p>
        </p:txBody>
      </p:sp>
      <p:sp>
        <p:nvSpPr>
          <p:cNvPr id="43" name="Text 41"/>
          <p:cNvSpPr txBox="1"/>
          <p:nvPr/>
        </p:nvSpPr>
        <p:spPr>
          <a:xfrm>
            <a:off x="7114032" y="551383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8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et décisions à prendre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1277295" y="6382512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C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LE PROBLÈME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21792"/>
            <a:ext cx="109115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1426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données existent. Elles arrivent trop tard.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43584"/>
            <a:ext cx="1036289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8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huilerie de palme produit chaque jour des dizaines d'indicateurs. Ils finissent dans des classeurs Excel, des cahiers et des messages WhatsApp — jamais dans une décision.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3502152" cy="2331720"/>
          </a:xfrm>
          <a:prstGeom prst="roundRect">
            <a:avLst>
              <a:gd name="adj" fmla="val 4314"/>
            </a:avLst>
          </a:prstGeom>
          <a:solidFill>
            <a:srgbClr val="F3F7F1"/>
          </a:solidFill>
          <a:ln w="6350">
            <a:solidFill>
              <a:srgbClr val="F3F7F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32688" y="2606040"/>
            <a:ext cx="384048" cy="384048"/>
          </a:xfrm>
          <a:prstGeom prst="ellipse">
            <a:avLst/>
          </a:prstGeom>
          <a:solidFill>
            <a:srgbClr val="E05C5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32688" y="3127248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mois se clôture en retard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932688" y="3712464"/>
            <a:ext cx="294436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8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compte de résultat arrive plusieurs semaines après la fin du mois. Quand le dirigeant découvre une marge dégradée, le trimestre est déjà entamé.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416552" y="2331720"/>
            <a:ext cx="3502152" cy="2331720"/>
          </a:xfrm>
          <a:prstGeom prst="roundRect">
            <a:avLst>
              <a:gd name="adj" fmla="val 4314"/>
            </a:avLst>
          </a:prstGeom>
          <a:solidFill>
            <a:srgbClr val="F3F7F1"/>
          </a:solidFill>
          <a:ln w="6350">
            <a:solidFill>
              <a:srgbClr val="F3F7F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09160" y="2606040"/>
            <a:ext cx="384048" cy="384048"/>
          </a:xfrm>
          <a:prstGeom prst="ellipse">
            <a:avLst/>
          </a:prstGeom>
          <a:solidFill>
            <a:srgbClr val="F28C2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709160" y="3127248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rendement n'est pas suivi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709160" y="3712464"/>
            <a:ext cx="294436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8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taux d'extraction est l'indicateur de marge n°1. Un point de TE perdu sur un mois, c'est des dizaines de tonnes d'huile qui n'existent pas — invisible dans un classeur.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193024" y="2331720"/>
            <a:ext cx="3502152" cy="2331720"/>
          </a:xfrm>
          <a:prstGeom prst="roundRect">
            <a:avLst>
              <a:gd name="adj" fmla="val 4314"/>
            </a:avLst>
          </a:prstGeom>
          <a:solidFill>
            <a:srgbClr val="F3F7F1"/>
          </a:solidFill>
          <a:ln w="6350">
            <a:solidFill>
              <a:srgbClr val="F3F7F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85632" y="2606040"/>
            <a:ext cx="384048" cy="384048"/>
          </a:xfrm>
          <a:prstGeom prst="ellipse">
            <a:avLst/>
          </a:prstGeom>
          <a:solidFill>
            <a:srgbClr val="3FA34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485632" y="3127248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donnée est éclatée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485632" y="3712464"/>
            <a:ext cx="294436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8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Production, caisse, banque, achats de régimes, ventes : autant de fichiers, autant de saisies, autant de risques d'écart. Personne ne consolide en temps réel.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4956048"/>
            <a:ext cx="10911535" cy="1078992"/>
          </a:xfrm>
          <a:prstGeom prst="roundRect">
            <a:avLst>
              <a:gd name="adj" fmla="val 9322"/>
            </a:avLst>
          </a:prstGeom>
          <a:solidFill>
            <a:srgbClr val="FDF3E8"/>
          </a:solidFill>
          <a:ln w="6350">
            <a:solidFill>
              <a:srgbClr val="FDF3E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60120" y="5120640"/>
            <a:ext cx="777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28C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4400" dirty="0"/>
          </a:p>
        </p:txBody>
      </p:sp>
      <p:sp>
        <p:nvSpPr>
          <p:cNvPr id="19" name="Text 17"/>
          <p:cNvSpPr txBox="1"/>
          <p:nvPr/>
        </p:nvSpPr>
        <p:spPr>
          <a:xfrm>
            <a:off x="1901952" y="5175504"/>
            <a:ext cx="9326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4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fichiers Excel distincts alimentaient le pilotage du client fondateur — production, caisse graine, caisse charges, banque, ventes huile, palmiste, florentin, pépinière.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11277295" y="6382512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C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PROPOSITION DE VALEUR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21792"/>
            <a:ext cx="109115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1426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que Palmeo change, concrètement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4160520" y="14813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E0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PALMEO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8092440" y="14813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3FA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PALMEO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40080" y="1847088"/>
            <a:ext cx="10911535" cy="804672"/>
          </a:xfrm>
          <a:prstGeom prst="roundRect">
            <a:avLst>
              <a:gd name="adj" fmla="val 12500"/>
            </a:avLst>
          </a:prstGeom>
          <a:solidFill>
            <a:srgbClr val="F3F7F1"/>
          </a:solidFill>
          <a:ln w="6350">
            <a:solidFill>
              <a:srgbClr val="F3F7F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96112" y="206654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 de résultat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160520" y="2167128"/>
            <a:ext cx="146304" cy="146304"/>
          </a:xfrm>
          <a:prstGeom prst="ellipse">
            <a:avLst/>
          </a:prstGeom>
          <a:solidFill>
            <a:srgbClr val="E05C5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407408" y="2011680"/>
            <a:ext cx="3520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B78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Reconstitué à la main, 3 à 4 semaines après la clôture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092440" y="2167128"/>
            <a:ext cx="146304" cy="146304"/>
          </a:xfrm>
          <a:prstGeom prst="ellipse">
            <a:avLst/>
          </a:prstGeom>
          <a:solidFill>
            <a:srgbClr val="3FA34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339328" y="2011680"/>
            <a:ext cx="3200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14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Généré automatiquement, disponible en continu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896112" y="296265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d'extraction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160520" y="3063240"/>
            <a:ext cx="146304" cy="146304"/>
          </a:xfrm>
          <a:prstGeom prst="ellipse">
            <a:avLst/>
          </a:prstGeom>
          <a:solidFill>
            <a:srgbClr val="E05C5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407408" y="2907792"/>
            <a:ext cx="3520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B78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Calculé a posteriori, parfois jamais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092440" y="3063240"/>
            <a:ext cx="146304" cy="146304"/>
          </a:xfrm>
          <a:prstGeom prst="ellipse">
            <a:avLst/>
          </a:prstGeom>
          <a:solidFill>
            <a:srgbClr val="3FA34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339328" y="2907792"/>
            <a:ext cx="3200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14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jour par jour, alerte sous le seuil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3639312"/>
            <a:ext cx="10911535" cy="804672"/>
          </a:xfrm>
          <a:prstGeom prst="roundRect">
            <a:avLst>
              <a:gd name="adj" fmla="val 12500"/>
            </a:avLst>
          </a:prstGeom>
          <a:solidFill>
            <a:srgbClr val="F3F7F1"/>
          </a:solidFill>
          <a:ln w="6350">
            <a:solidFill>
              <a:srgbClr val="F3F7F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96112" y="385876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Trésorerie &amp; charges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4160520" y="3959352"/>
            <a:ext cx="146304" cy="146304"/>
          </a:xfrm>
          <a:prstGeom prst="ellipse">
            <a:avLst/>
          </a:prstGeom>
          <a:solidFill>
            <a:srgbClr val="E05C5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407408" y="3803904"/>
            <a:ext cx="3520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B78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Éclatées entre caisses et banques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092440" y="3959352"/>
            <a:ext cx="146304" cy="146304"/>
          </a:xfrm>
          <a:prstGeom prst="ellipse">
            <a:avLst/>
          </a:prstGeom>
          <a:solidFill>
            <a:srgbClr val="3FA34D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339328" y="3803904"/>
            <a:ext cx="3200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14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Consolidées et catégorisées automatiquement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896112" y="47548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Décision terrain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4160520" y="4855464"/>
            <a:ext cx="146304" cy="146304"/>
          </a:xfrm>
          <a:prstGeom prst="ellipse">
            <a:avLst/>
          </a:prstGeom>
          <a:solidFill>
            <a:srgbClr val="E05C5C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407408" y="4700016"/>
            <a:ext cx="3520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B78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intuition et souvenirs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8092440" y="4855464"/>
            <a:ext cx="146304" cy="146304"/>
          </a:xfrm>
          <a:prstGeom prst="ellipse">
            <a:avLst/>
          </a:prstGeom>
          <a:solidFill>
            <a:srgbClr val="3FA34D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339328" y="4700016"/>
            <a:ext cx="3200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14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chiffre daté, sourcé, comparable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40080" y="5431536"/>
            <a:ext cx="10911535" cy="804672"/>
          </a:xfrm>
          <a:prstGeom prst="roundRect">
            <a:avLst>
              <a:gd name="adj" fmla="val 12500"/>
            </a:avLst>
          </a:prstGeom>
          <a:solidFill>
            <a:srgbClr val="F3F7F1"/>
          </a:solidFill>
          <a:ln w="6350">
            <a:solidFill>
              <a:srgbClr val="F3F7F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96112" y="565099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à l'information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4160520" y="5751576"/>
            <a:ext cx="146304" cy="146304"/>
          </a:xfrm>
          <a:prstGeom prst="ellipse">
            <a:avLst/>
          </a:prstGeom>
          <a:solidFill>
            <a:srgbClr val="E05C5C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4407408" y="5596128"/>
            <a:ext cx="3520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B78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poste, un classeur, une personne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8092440" y="5751576"/>
            <a:ext cx="146304" cy="146304"/>
          </a:xfrm>
          <a:prstGeom prst="ellipse">
            <a:avLst/>
          </a:prstGeom>
          <a:solidFill>
            <a:srgbClr val="3FA34D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8339328" y="5596128"/>
            <a:ext cx="3200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14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et mobile, par rôle, où que soit le dirigeant</a:t>
            </a:r>
            <a:endParaRPr lang="en-US" sz="1150" dirty="0"/>
          </a:p>
        </p:txBody>
      </p:sp>
      <p:sp>
        <p:nvSpPr>
          <p:cNvPr id="35" name="Text 32"/>
          <p:cNvSpPr txBox="1"/>
          <p:nvPr/>
        </p:nvSpPr>
        <p:spPr>
          <a:xfrm>
            <a:off x="11277295" y="6382512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C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2A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LE PRODUIT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21792"/>
            <a:ext cx="109115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Sept modules, un seul écran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43584"/>
            <a:ext cx="1036289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DA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L'application livrée au client : cinq modules de pilotage, les documents comptables, et la console d'exploitation réservée à l'opérateur de la plateforme.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212848"/>
            <a:ext cx="2624328" cy="1920240"/>
          </a:xfrm>
          <a:prstGeom prst="roundRect">
            <a:avLst>
              <a:gd name="adj" fmla="val 5238"/>
            </a:avLst>
          </a:prstGeom>
          <a:solidFill>
            <a:srgbClr val="1A3323"/>
          </a:solidFill>
          <a:ln w="9525">
            <a:solidFill>
              <a:srgbClr val="2A46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77824" y="2450592"/>
            <a:ext cx="310896" cy="310896"/>
          </a:xfrm>
          <a:prstGeom prst="ellipse">
            <a:avLst/>
          </a:prstGeom>
          <a:solidFill>
            <a:srgbClr val="F28C2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77824" y="28346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d'ensemble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877824" y="3236976"/>
            <a:ext cx="2203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9DA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CA, marge brute, résultat net, huile produite, marge nette, revenu net à la tonne — plus l'évolution multi-mois.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2624328" cy="1920240"/>
          </a:xfrm>
          <a:prstGeom prst="roundRect">
            <a:avLst>
              <a:gd name="adj" fmla="val 5238"/>
            </a:avLst>
          </a:prstGeom>
          <a:solidFill>
            <a:srgbClr val="1A3323"/>
          </a:solidFill>
          <a:ln w="9525">
            <a:solidFill>
              <a:srgbClr val="2A46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721608" y="2450592"/>
            <a:ext cx="310896" cy="310896"/>
          </a:xfrm>
          <a:prstGeom prst="ellipse">
            <a:avLst/>
          </a:prstGeom>
          <a:solidFill>
            <a:srgbClr val="3FA34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721608" y="28346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&amp; graines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3721608" y="3236976"/>
            <a:ext cx="2203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9DA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Régimes reçus, traités, huile produite, taux d'extraction journalier, stocks cuve, stérilisateurs.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327648" y="2212848"/>
            <a:ext cx="2624328" cy="1920240"/>
          </a:xfrm>
          <a:prstGeom prst="roundRect">
            <a:avLst>
              <a:gd name="adj" fmla="val 5238"/>
            </a:avLst>
          </a:prstGeom>
          <a:solidFill>
            <a:srgbClr val="1A3323"/>
          </a:solidFill>
          <a:ln w="9525">
            <a:solidFill>
              <a:srgbClr val="2A46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65392" y="2450592"/>
            <a:ext cx="310896" cy="310896"/>
          </a:xfrm>
          <a:prstGeom prst="ellipse">
            <a:avLst/>
          </a:prstGeom>
          <a:solidFill>
            <a:srgbClr val="F28C2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565392" y="28346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Revenus &amp; ventes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6565392" y="3236976"/>
            <a:ext cx="2203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9DA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Ventes huile CPO par circuit, palmiste, florentin, bassin — volumes, prix moyens, écarts de pesée.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171432" y="2212848"/>
            <a:ext cx="2624328" cy="1920240"/>
          </a:xfrm>
          <a:prstGeom prst="roundRect">
            <a:avLst>
              <a:gd name="adj" fmla="val 5238"/>
            </a:avLst>
          </a:prstGeom>
          <a:solidFill>
            <a:srgbClr val="1A3323"/>
          </a:solidFill>
          <a:ln w="9525">
            <a:solidFill>
              <a:srgbClr val="2A46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409176" y="2450592"/>
            <a:ext cx="310896" cy="310896"/>
          </a:xfrm>
          <a:prstGeom prst="ellipse">
            <a:avLst/>
          </a:prstGeom>
          <a:solidFill>
            <a:srgbClr val="3FA34D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409176" y="28346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Charges &amp; coûts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9409176" y="3236976"/>
            <a:ext cx="2203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9DA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Caisse, banque, amortissements : charges catégorisées automatiquement selon le plan comptable.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40080" y="4297680"/>
            <a:ext cx="2624328" cy="1920240"/>
          </a:xfrm>
          <a:prstGeom prst="roundRect">
            <a:avLst>
              <a:gd name="adj" fmla="val 5238"/>
            </a:avLst>
          </a:prstGeom>
          <a:solidFill>
            <a:srgbClr val="1A3323"/>
          </a:solidFill>
          <a:ln w="9525">
            <a:solidFill>
              <a:srgbClr val="2A46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77824" y="4535424"/>
            <a:ext cx="310896" cy="310896"/>
          </a:xfrm>
          <a:prstGeom prst="ellipse">
            <a:avLst/>
          </a:prstGeom>
          <a:solidFill>
            <a:srgbClr val="F28C28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77824" y="491947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Fournisseurs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877824" y="5321808"/>
            <a:ext cx="2203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9DA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Camions, tonnages, prix moyen au kilo, classement des transporteurs et coopératives.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483864" y="4297680"/>
            <a:ext cx="2624328" cy="1920240"/>
          </a:xfrm>
          <a:prstGeom prst="roundRect">
            <a:avLst>
              <a:gd name="adj" fmla="val 5238"/>
            </a:avLst>
          </a:prstGeom>
          <a:solidFill>
            <a:srgbClr val="1A3323"/>
          </a:solidFill>
          <a:ln w="9525">
            <a:solidFill>
              <a:srgbClr val="2A46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721608" y="4535424"/>
            <a:ext cx="310896" cy="310896"/>
          </a:xfrm>
          <a:prstGeom prst="ellipse">
            <a:avLst/>
          </a:prstGeom>
          <a:solidFill>
            <a:srgbClr val="3FA34D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3721608" y="491947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 de résultat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3721608" y="5321808"/>
            <a:ext cx="2203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9DA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P&amp;L par mois, au format OHADA, exportable en PDF — total et ramené à la tonne d'huile.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327648" y="4297680"/>
            <a:ext cx="2624328" cy="1920240"/>
          </a:xfrm>
          <a:prstGeom prst="roundRect">
            <a:avLst>
              <a:gd name="adj" fmla="val 5238"/>
            </a:avLst>
          </a:prstGeom>
          <a:solidFill>
            <a:srgbClr val="1A3323"/>
          </a:solidFill>
          <a:ln w="9525">
            <a:solidFill>
              <a:srgbClr val="2A463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565392" y="4535424"/>
            <a:ext cx="310896" cy="310896"/>
          </a:xfrm>
          <a:prstGeom prst="ellipse">
            <a:avLst/>
          </a:prstGeom>
          <a:solidFill>
            <a:srgbClr val="F28C28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565392" y="491947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admin</a:t>
            </a:r>
            <a:endParaRPr lang="en-US" sz="1350" dirty="0"/>
          </a:p>
        </p:txBody>
      </p:sp>
      <p:sp>
        <p:nvSpPr>
          <p:cNvPr id="32" name="Text 30"/>
          <p:cNvSpPr txBox="1"/>
          <p:nvPr/>
        </p:nvSpPr>
        <p:spPr>
          <a:xfrm>
            <a:off x="6565392" y="5321808"/>
            <a:ext cx="2203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9DA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Réservée aux super-admins : parc clients, intégrations, utilisateurs, plan comptable, journal d'audit.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9171432" y="4297680"/>
            <a:ext cx="2624328" cy="1920240"/>
          </a:xfrm>
          <a:prstGeom prst="roundRect">
            <a:avLst>
              <a:gd name="adj" fmla="val 5238"/>
            </a:avLst>
          </a:prstGeom>
          <a:solidFill>
            <a:srgbClr val="3FA34D">
              <a:alpha val="18000"/>
            </a:srgbClr>
          </a:solidFill>
          <a:ln w="12700">
            <a:solidFill>
              <a:srgbClr val="3FA34D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9409176" y="449884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partout :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9409176" y="4809744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8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Bascule FCFA ⇄ EUR instantanée</a:t>
            </a:r>
            <a:endParaRPr lang="en-US" sz="1000" dirty="0"/>
          </a:p>
          <a:p>
            <a:pPr marL="342900" indent="-3429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8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Thème clair / sombre</a:t>
            </a:r>
            <a:endParaRPr lang="en-US" sz="1000" dirty="0"/>
          </a:p>
          <a:p>
            <a:pPr marL="342900" indent="-3429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8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installable (PWA)</a:t>
            </a:r>
            <a:endParaRPr lang="en-US" sz="1000" dirty="0"/>
          </a:p>
          <a:p>
            <a:pPr marL="342900" indent="-3429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8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 de période multi-mois</a:t>
            </a:r>
            <a:endParaRPr lang="en-US" sz="1000" dirty="0"/>
          </a:p>
        </p:txBody>
      </p:sp>
      <p:sp>
        <p:nvSpPr>
          <p:cNvPr id="37" name="Text 34"/>
          <p:cNvSpPr txBox="1"/>
          <p:nvPr/>
        </p:nvSpPr>
        <p:spPr>
          <a:xfrm>
            <a:off x="11277295" y="6382512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DA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LE PRODUIT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21792"/>
            <a:ext cx="109115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1426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mois entier, en six chiffres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43584"/>
            <a:ext cx="1036289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8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page d'accueil de l'application : ce que le dirigeant voit en ouvrant Palmeo le matin.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3502152" cy="1755648"/>
          </a:xfrm>
          <a:prstGeom prst="roundRect">
            <a:avLst>
              <a:gd name="adj" fmla="val 5729"/>
            </a:avLst>
          </a:prstGeom>
          <a:solidFill>
            <a:srgbClr val="F3F7F1"/>
          </a:solidFill>
          <a:ln w="6350">
            <a:solidFill>
              <a:srgbClr val="F3F7F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212848"/>
            <a:ext cx="128016" cy="128016"/>
          </a:xfrm>
          <a:prstGeom prst="ellipse">
            <a:avLst/>
          </a:prstGeom>
          <a:solidFill>
            <a:srgbClr val="F28C2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152144" y="212140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60" kern="0" dirty="0">
                <a:solidFill>
                  <a:srgbClr val="6B78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Chiffre d'affaires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487168"/>
            <a:ext cx="3017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28C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398,6 M</a:t>
            </a:r>
            <a:endParaRPr lang="en-US" sz="3800" dirty="0"/>
          </a:p>
        </p:txBody>
      </p:sp>
      <p:sp>
        <p:nvSpPr>
          <p:cNvPr id="9" name="Text 7"/>
          <p:cNvSpPr txBox="1"/>
          <p:nvPr/>
        </p:nvSpPr>
        <p:spPr>
          <a:xfrm>
            <a:off x="932688" y="321868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8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FCFA · soit 607 660 €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416552" y="1920240"/>
            <a:ext cx="3502152" cy="1755648"/>
          </a:xfrm>
          <a:prstGeom prst="roundRect">
            <a:avLst>
              <a:gd name="adj" fmla="val 5729"/>
            </a:avLst>
          </a:prstGeom>
          <a:solidFill>
            <a:srgbClr val="F3F7F1"/>
          </a:solidFill>
          <a:ln w="6350">
            <a:solidFill>
              <a:srgbClr val="F3F7F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90872" y="2212848"/>
            <a:ext cx="128016" cy="128016"/>
          </a:xfrm>
          <a:prstGeom prst="ellipse">
            <a:avLst/>
          </a:prstGeom>
          <a:solidFill>
            <a:srgbClr val="3FA34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928616" y="212140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60" kern="0" dirty="0">
                <a:solidFill>
                  <a:srgbClr val="6B78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 brute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4690872" y="2487168"/>
            <a:ext cx="3017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3FA3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39,1 %</a:t>
            </a:r>
            <a:endParaRPr lang="en-US" sz="3800" dirty="0"/>
          </a:p>
        </p:txBody>
      </p:sp>
      <p:sp>
        <p:nvSpPr>
          <p:cNvPr id="14" name="Text 12"/>
          <p:cNvSpPr txBox="1"/>
          <p:nvPr/>
        </p:nvSpPr>
        <p:spPr>
          <a:xfrm>
            <a:off x="4709160" y="321868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8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après coût matière première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193024" y="1920240"/>
            <a:ext cx="3502152" cy="1755648"/>
          </a:xfrm>
          <a:prstGeom prst="roundRect">
            <a:avLst>
              <a:gd name="adj" fmla="val 5729"/>
            </a:avLst>
          </a:prstGeom>
          <a:solidFill>
            <a:srgbClr val="F3F7F1"/>
          </a:solidFill>
          <a:ln w="6350">
            <a:solidFill>
              <a:srgbClr val="F3F7F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67344" y="2212848"/>
            <a:ext cx="128016" cy="128016"/>
          </a:xfrm>
          <a:prstGeom prst="ellipse">
            <a:avLst/>
          </a:prstGeom>
          <a:solidFill>
            <a:srgbClr val="3FA34D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705088" y="212140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60" kern="0" dirty="0">
                <a:solidFill>
                  <a:srgbClr val="6B78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 net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8467344" y="2487168"/>
            <a:ext cx="3017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3FA3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+ 53,8 M</a:t>
            </a:r>
            <a:endParaRPr lang="en-US" sz="3800" dirty="0"/>
          </a:p>
        </p:txBody>
      </p:sp>
      <p:sp>
        <p:nvSpPr>
          <p:cNvPr id="19" name="Text 17"/>
          <p:cNvSpPr txBox="1"/>
          <p:nvPr/>
        </p:nvSpPr>
        <p:spPr>
          <a:xfrm>
            <a:off x="8485632" y="321868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8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FCFA · soit + 82 018 €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40080" y="3858768"/>
            <a:ext cx="3502152" cy="1755648"/>
          </a:xfrm>
          <a:prstGeom prst="roundRect">
            <a:avLst>
              <a:gd name="adj" fmla="val 5729"/>
            </a:avLst>
          </a:prstGeom>
          <a:solidFill>
            <a:srgbClr val="F3F7F1"/>
          </a:solidFill>
          <a:ln w="6350">
            <a:solidFill>
              <a:srgbClr val="F3F7F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14400" y="4151376"/>
            <a:ext cx="128016" cy="128016"/>
          </a:xfrm>
          <a:prstGeom prst="ellipse">
            <a:avLst/>
          </a:prstGeom>
          <a:solidFill>
            <a:srgbClr val="F28C28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152144" y="405993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60" kern="0" dirty="0">
                <a:solidFill>
                  <a:srgbClr val="6B78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Huile produite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914400" y="4425696"/>
            <a:ext cx="3017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28C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497 T</a:t>
            </a:r>
            <a:endParaRPr lang="en-US" sz="3800" dirty="0"/>
          </a:p>
        </p:txBody>
      </p:sp>
      <p:sp>
        <p:nvSpPr>
          <p:cNvPr id="24" name="Text 22"/>
          <p:cNvSpPr txBox="1"/>
          <p:nvPr/>
        </p:nvSpPr>
        <p:spPr>
          <a:xfrm>
            <a:off x="932688" y="515721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8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CPO, sur le mois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416552" y="3858768"/>
            <a:ext cx="3502152" cy="1755648"/>
          </a:xfrm>
          <a:prstGeom prst="roundRect">
            <a:avLst>
              <a:gd name="adj" fmla="val 5729"/>
            </a:avLst>
          </a:prstGeom>
          <a:solidFill>
            <a:srgbClr val="F3F7F1"/>
          </a:solidFill>
          <a:ln w="6350">
            <a:solidFill>
              <a:srgbClr val="F3F7F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90872" y="4151376"/>
            <a:ext cx="128016" cy="128016"/>
          </a:xfrm>
          <a:prstGeom prst="ellipse">
            <a:avLst/>
          </a:prstGeom>
          <a:solidFill>
            <a:srgbClr val="3FA34D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4928616" y="405993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60" kern="0" dirty="0">
                <a:solidFill>
                  <a:srgbClr val="6B78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 nette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4690872" y="4425696"/>
            <a:ext cx="3017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3FA3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13,5 %</a:t>
            </a:r>
            <a:endParaRPr lang="en-US" sz="3800" dirty="0"/>
          </a:p>
        </p:txBody>
      </p:sp>
      <p:sp>
        <p:nvSpPr>
          <p:cNvPr id="29" name="Text 27"/>
          <p:cNvSpPr txBox="1"/>
          <p:nvPr/>
        </p:nvSpPr>
        <p:spPr>
          <a:xfrm>
            <a:off x="4709160" y="515721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8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 / CA total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193024" y="3858768"/>
            <a:ext cx="3502152" cy="1755648"/>
          </a:xfrm>
          <a:prstGeom prst="roundRect">
            <a:avLst>
              <a:gd name="adj" fmla="val 5729"/>
            </a:avLst>
          </a:prstGeom>
          <a:solidFill>
            <a:srgbClr val="F3F7F1"/>
          </a:solidFill>
          <a:ln w="6350">
            <a:solidFill>
              <a:srgbClr val="F3F7F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467344" y="4151376"/>
            <a:ext cx="128016" cy="128016"/>
          </a:xfrm>
          <a:prstGeom prst="ellipse">
            <a:avLst/>
          </a:prstGeom>
          <a:solidFill>
            <a:srgbClr val="F28C28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705088" y="405993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60" kern="0" dirty="0">
                <a:solidFill>
                  <a:srgbClr val="6B78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 net / tonne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8467344" y="4425696"/>
            <a:ext cx="3017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28C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108 250</a:t>
            </a:r>
            <a:endParaRPr lang="en-US" sz="3800" dirty="0"/>
          </a:p>
        </p:txBody>
      </p:sp>
      <p:sp>
        <p:nvSpPr>
          <p:cNvPr id="34" name="Text 32"/>
          <p:cNvSpPr txBox="1"/>
          <p:nvPr/>
        </p:nvSpPr>
        <p:spPr>
          <a:xfrm>
            <a:off x="8485632" y="515721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8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FCFA par tonne produite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640080" y="6382512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8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Jeu de démonstration anonymisé (« Huilerie Sédia », juin 2026) — aucune donnée client réelle. Conversion au taux fixe XOF/EUR de 655,957.</a:t>
            </a:r>
            <a:endParaRPr lang="en-US" sz="900" dirty="0"/>
          </a:p>
        </p:txBody>
      </p:sp>
      <p:sp>
        <p:nvSpPr>
          <p:cNvPr id="37" name="Text 34"/>
          <p:cNvSpPr txBox="1"/>
          <p:nvPr/>
        </p:nvSpPr>
        <p:spPr>
          <a:xfrm>
            <a:off x="11277295" y="6382512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C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LA PREUVE PAR LES CHIFFRES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21792"/>
            <a:ext cx="109115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1426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mois de trajectoire, sans ressaisie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43584"/>
            <a:ext cx="1036289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8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barre est reconstituée automatiquement depuis les fichiers de l'usine. Le creux de mai est ce qu'un dirigeant doit voir le 1ᵉʳ juin — pas fin juillet.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0080" y="2212848"/>
          <a:ext cx="10911535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640080" y="6382512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8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Jeu de démonstration anonymisé (« Huilerie Sédia », janvier → juin 2026). Le creux de mai illustre un incident de production analysé slide 10.</a:t>
            </a:r>
            <a:endParaRPr lang="en-US" sz="900" dirty="0"/>
          </a:p>
        </p:txBody>
      </p:sp>
      <p:sp>
        <p:nvSpPr>
          <p:cNvPr id="8" name="Text 4"/>
          <p:cNvSpPr txBox="1"/>
          <p:nvPr/>
        </p:nvSpPr>
        <p:spPr>
          <a:xfrm>
            <a:off x="11277295" y="6382512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C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LA PREUVE PAR LES CHIFFRES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21792"/>
            <a:ext cx="109115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1426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Où part réellement l'argent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43584"/>
            <a:ext cx="1036289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8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Hors matière première, les charges d'exploitation d'un mois sont ventilées automatiquement par le plan comptable — plus aucun poste ne se cache dans « divers ».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0080" y="2212848"/>
          <a:ext cx="704088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955280" y="2212848"/>
            <a:ext cx="3593592" cy="3566160"/>
          </a:xfrm>
          <a:prstGeom prst="roundRect">
            <a:avLst>
              <a:gd name="adj" fmla="val 2821"/>
            </a:avLst>
          </a:prstGeom>
          <a:solidFill>
            <a:srgbClr val="F3F7F1"/>
          </a:solidFill>
          <a:ln w="6350">
            <a:solidFill>
              <a:srgbClr val="F3F7F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0" y="245059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ça permet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229600" y="2889504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28C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84,2 M FCFA</a:t>
            </a:r>
            <a:endParaRPr lang="en-US" sz="2100" dirty="0"/>
          </a:p>
        </p:txBody>
      </p:sp>
      <p:sp>
        <p:nvSpPr>
          <p:cNvPr id="9" name="Text 6"/>
          <p:cNvSpPr txBox="1"/>
          <p:nvPr/>
        </p:nvSpPr>
        <p:spPr>
          <a:xfrm>
            <a:off x="8229600" y="321868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6B78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charges d'exploitation sur le mois, hors achat de régimes.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8229600" y="3822192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28C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59 %</a:t>
            </a:r>
            <a:endParaRPr lang="en-US" sz="2100" dirty="0"/>
          </a:p>
        </p:txBody>
      </p:sp>
      <p:sp>
        <p:nvSpPr>
          <p:cNvPr id="11" name="Text 8"/>
          <p:cNvSpPr txBox="1"/>
          <p:nvPr/>
        </p:nvSpPr>
        <p:spPr>
          <a:xfrm>
            <a:off x="8229600" y="4151376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6B78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total concentré sur deux postes seulement : masse salariale et énergie.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8229600" y="4754880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3FA3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saisie</a:t>
            </a:r>
            <a:endParaRPr lang="en-US" sz="2100" dirty="0"/>
          </a:p>
        </p:txBody>
      </p:sp>
      <p:sp>
        <p:nvSpPr>
          <p:cNvPr id="13" name="Text 10"/>
          <p:cNvSpPr txBox="1"/>
          <p:nvPr/>
        </p:nvSpPr>
        <p:spPr>
          <a:xfrm>
            <a:off x="8229600" y="5084064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6B78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manuelle : la ventilation vient du mapping plan comptable → catégories P&amp;L.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640080" y="6382512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8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Jeu de démonstration anonymisé (« Huilerie Sédia », juin 2026). Les catégories proviennent des défauts SYSCOHADA de la plateforme, surchargeables par client.</a:t>
            </a:r>
            <a:endParaRPr lang="en-US" sz="900" dirty="0"/>
          </a:p>
        </p:txBody>
      </p:sp>
      <p:sp>
        <p:nvSpPr>
          <p:cNvPr id="16" name="Text 12"/>
          <p:cNvSpPr txBox="1"/>
          <p:nvPr/>
        </p:nvSpPr>
        <p:spPr>
          <a:xfrm>
            <a:off x="11277295" y="6382512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C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LA PREUVE PAR LES CHIFFRES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21792"/>
            <a:ext cx="109115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1426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levier n° 1 : le taux d'extraction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43584"/>
            <a:ext cx="1036289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8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TE est le rapport entre l'huile produite et les régimes traités. C'est la variable qui décide de la marge — et celle que personne ne suit au jour le jour.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0080" y="2267712"/>
          <a:ext cx="736092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8275320" y="2267712"/>
            <a:ext cx="3273552" cy="3017520"/>
          </a:xfrm>
          <a:prstGeom prst="roundRect">
            <a:avLst>
              <a:gd name="adj" fmla="val 3333"/>
            </a:avLst>
          </a:prstGeom>
          <a:solidFill>
            <a:srgbClr val="F3F7F1"/>
          </a:solidFill>
          <a:ln w="6350">
            <a:solidFill>
              <a:srgbClr val="F3F7F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522208" y="246888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4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barème métier embarqué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8522208" y="3099816"/>
            <a:ext cx="146304" cy="146304"/>
          </a:xfrm>
          <a:prstGeom prst="ellipse">
            <a:avLst/>
          </a:prstGeom>
          <a:solidFill>
            <a:srgbClr val="3FA34D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778240" y="301752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10195560" y="3017520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8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23 %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8522208" y="3502152"/>
            <a:ext cx="146304" cy="146304"/>
          </a:xfrm>
          <a:prstGeom prst="ellipse">
            <a:avLst/>
          </a:prstGeom>
          <a:solidFill>
            <a:srgbClr val="3FA34D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778240" y="3419856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10195560" y="3419856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8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– 23 %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522208" y="3904488"/>
            <a:ext cx="146304" cy="146304"/>
          </a:xfrm>
          <a:prstGeom prst="ellipse">
            <a:avLst/>
          </a:prstGeom>
          <a:solidFill>
            <a:srgbClr val="F28C28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8778240" y="3822192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10195560" y="3822192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8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– 21 %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8522208" y="4306824"/>
            <a:ext cx="146304" cy="146304"/>
          </a:xfrm>
          <a:prstGeom prst="ellipse">
            <a:avLst/>
          </a:prstGeom>
          <a:solidFill>
            <a:srgbClr val="E05C5C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8778240" y="422452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traiter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10195560" y="4224528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8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19 %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8522208" y="4718304"/>
            <a:ext cx="2788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i="1" dirty="0">
                <a:solidFill>
                  <a:srgbClr val="6B78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Ces seuils pilotent les alertes push, l'email du matin et les réponses de l'assistant IA.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640080" y="5440680"/>
            <a:ext cx="10911535" cy="640080"/>
          </a:xfrm>
          <a:prstGeom prst="roundRect">
            <a:avLst>
              <a:gd name="adj" fmla="val 15714"/>
            </a:avLst>
          </a:prstGeom>
          <a:solidFill>
            <a:srgbClr val="FDF3E8"/>
          </a:solidFill>
          <a:ln w="6350">
            <a:solidFill>
              <a:srgbClr val="FDF3E8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914400" y="544068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Enjeu : sur 2 310 tonnes de régimes traités dans le mois, 1 point de TE représente 23 tonnes d'huile — soit environ 18 M FCFA de chiffre d'affaires.</a:t>
            </a:r>
            <a:endParaRPr lang="en-US" sz="1250" dirty="0"/>
          </a:p>
        </p:txBody>
      </p:sp>
      <p:sp>
        <p:nvSpPr>
          <p:cNvPr id="23" name="Text 20"/>
          <p:cNvSpPr txBox="1"/>
          <p:nvPr/>
        </p:nvSpPr>
        <p:spPr>
          <a:xfrm>
            <a:off x="640080" y="6382512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8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Jeu de démonstration anonymisé. Ordre de grandeur du bandeau calculé au prix de vente moyen implicite du mois (386,8 M FCFA pour 497 T).</a:t>
            </a:r>
            <a:endParaRPr lang="en-US" sz="900" dirty="0"/>
          </a:p>
        </p:txBody>
      </p:sp>
      <p:sp>
        <p:nvSpPr>
          <p:cNvPr id="25" name="Text 21"/>
          <p:cNvSpPr txBox="1"/>
          <p:nvPr/>
        </p:nvSpPr>
        <p:spPr>
          <a:xfrm>
            <a:off x="11277295" y="6382512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C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2A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LE PRODUIT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21792"/>
            <a:ext cx="109115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Palmeo AI : il ne devine pas, il lit vos données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43584"/>
            <a:ext cx="1036289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DA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L'assistant écrit lui-même la requête SQL, l'exécute sur la base du client et répond avec des chiffres sourcés. Aucune réponse n'est inventée.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212848"/>
            <a:ext cx="6400800" cy="3703320"/>
          </a:xfrm>
          <a:prstGeom prst="roundRect">
            <a:avLst>
              <a:gd name="adj" fmla="val 3457"/>
            </a:avLst>
          </a:prstGeom>
          <a:solidFill>
            <a:srgbClr val="1A3323"/>
          </a:solidFill>
          <a:ln w="9525">
            <a:solidFill>
              <a:srgbClr val="2A46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239572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PALMAI  ·  Assistant huilerie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651760" y="2761488"/>
            <a:ext cx="4114800" cy="438912"/>
          </a:xfrm>
          <a:prstGeom prst="roundRect">
            <a:avLst>
              <a:gd name="adj" fmla="val 29167"/>
            </a:avLst>
          </a:prstGeom>
          <a:solidFill>
            <a:srgbClr val="3FA34D">
              <a:alpha val="45000"/>
            </a:srgbClr>
          </a:solidFill>
          <a:ln w="6350">
            <a:solidFill>
              <a:srgbClr val="3FA34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788920" y="2761488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ma marge a baissé en mai ?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3364992"/>
            <a:ext cx="5852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b="1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 nette mai : 10,2 %</a:t>
            </a:r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8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contre 14,0 % en avril.
</a:t>
            </a:r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8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Trois causes, par ordre d'impact :
</a:t>
            </a:r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8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Taux d'extraction à </a:t>
            </a:r>
            <a:pPr indent="0" marL="0">
              <a:lnSpc>
                <a:spcPts val="1700"/>
              </a:lnSpc>
              <a:buNone/>
            </a:pPr>
            <a:r>
              <a:rPr lang="en-US" sz="1200" b="1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19,8 %</a:t>
            </a:r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8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(vs 21,4 %) — 4 jours d'arrêt du stérilisateur
</a:t>
            </a:r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8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Prix moyen du régime à </a:t>
            </a:r>
            <a:pPr indent="0" marL="0">
              <a:lnSpc>
                <a:spcPts val="1700"/>
              </a:lnSpc>
              <a:buNone/>
            </a:pPr>
            <a:r>
              <a:rPr lang="en-US" sz="1200" b="1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111 F/kg</a:t>
            </a:r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8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+ 6 % vs avril
</a:t>
            </a:r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8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Charges carburant </a:t>
            </a:r>
            <a:pPr indent="0" marL="0">
              <a:lnSpc>
                <a:spcPts val="1700"/>
              </a:lnSpc>
              <a:buNone/>
            </a:pPr>
            <a:r>
              <a:rPr lang="en-US" sz="1200" b="1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+ 8,4 M FCFA</a:t>
            </a:r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8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(groupe électrogène)
</a:t>
            </a:r>
            <a:pPr indent="0" marL="0">
              <a:lnSpc>
                <a:spcPts val="1700"/>
              </a:lnSpc>
              <a:buNone/>
            </a:pP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8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TE constant, mai aurait dégagé 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b="1" dirty="0">
                <a:solidFill>
                  <a:srgbClr val="3FA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M FCFA</a:t>
            </a:r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8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au lieu de 34,9 M.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60920" y="2267712"/>
            <a:ext cx="274320" cy="274320"/>
          </a:xfrm>
          <a:prstGeom prst="ellipse">
            <a:avLst/>
          </a:prstGeom>
          <a:solidFill>
            <a:srgbClr val="F28C2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360920" y="2286000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7754112" y="221284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Requête réelle, pas résumé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7754112" y="2514600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9DA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L'IA dispose d'un outil SQL en lecture seule sur les tables métier du client.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60920" y="3209544"/>
            <a:ext cx="274320" cy="274320"/>
          </a:xfrm>
          <a:prstGeom prst="ellipse">
            <a:avLst/>
          </a:prstGeom>
          <a:solidFill>
            <a:srgbClr val="3FA34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360920" y="3227832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7754112" y="315468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Cloisonné par construction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7754112" y="3456432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9DA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requête est filtrée sur les périodes du tenant ; tables système et tables d'identité bloquées.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360920" y="4151376"/>
            <a:ext cx="274320" cy="274320"/>
          </a:xfrm>
          <a:prstGeom prst="ellipse">
            <a:avLst/>
          </a:prstGeom>
          <a:solidFill>
            <a:srgbClr val="F28C2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360920" y="4169664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7754112" y="409651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 maîtrisé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7754112" y="4398264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9DA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Quota de 60 messages par utilisateur et par jour, tracé en base.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360920" y="5093208"/>
            <a:ext cx="274320" cy="274320"/>
          </a:xfrm>
          <a:prstGeom prst="ellipse">
            <a:avLst/>
          </a:prstGeom>
          <a:solidFill>
            <a:srgbClr val="3FA34D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360920" y="5111496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754112" y="503834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Expertise sectorielle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7754112" y="5340096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9DA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seuils TE et marge du métier sont intégrés à son prompt.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" y="6382512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8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Échange illustratif construit sur le jeu de démonstration anonymisé — cohérent avec les chiffres des slides précédentes.</a:t>
            </a:r>
            <a:endParaRPr lang="en-US" sz="900" dirty="0"/>
          </a:p>
        </p:txBody>
      </p:sp>
      <p:sp>
        <p:nvSpPr>
          <p:cNvPr id="28" name="Text 25"/>
          <p:cNvSpPr txBox="1"/>
          <p:nvPr/>
        </p:nvSpPr>
        <p:spPr>
          <a:xfrm>
            <a:off x="11277295" y="6382512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DA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LE PRODUIT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21792"/>
            <a:ext cx="109115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1426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produit travaille sans qu'on l'ouvre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43584"/>
            <a:ext cx="1036289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8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L'essentiel de la valeur est poussé vers le dirigeant : il n'a rien à demander pour être informé.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2624328" cy="2926080"/>
          </a:xfrm>
          <a:prstGeom prst="roundRect">
            <a:avLst>
              <a:gd name="adj" fmla="val 3833"/>
            </a:avLst>
          </a:prstGeom>
          <a:solidFill>
            <a:srgbClr val="F3F7F1"/>
          </a:solidFill>
          <a:ln w="6350">
            <a:solidFill>
              <a:srgbClr val="F3F7F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359152"/>
            <a:ext cx="402336" cy="402336"/>
          </a:xfrm>
          <a:prstGeom prst="ellipse">
            <a:avLst/>
          </a:prstGeom>
          <a:solidFill>
            <a:srgbClr val="F28C2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2377440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426464" y="239572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8C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07:00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2944368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14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push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3584448"/>
            <a:ext cx="2148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78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le téléphone : production de la veille, TE du jour, alertes de seuil. Aucune application à ouvrir.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83864" y="2103120"/>
            <a:ext cx="2624328" cy="2926080"/>
          </a:xfrm>
          <a:prstGeom prst="roundRect">
            <a:avLst>
              <a:gd name="adj" fmla="val 3833"/>
            </a:avLst>
          </a:prstGeom>
          <a:solidFill>
            <a:srgbClr val="F3F7F1"/>
          </a:solidFill>
          <a:ln w="6350">
            <a:solidFill>
              <a:srgbClr val="F3F7F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758184" y="2359152"/>
            <a:ext cx="402336" cy="402336"/>
          </a:xfrm>
          <a:prstGeom prst="ellipse">
            <a:avLst/>
          </a:prstGeom>
          <a:solidFill>
            <a:srgbClr val="3FA34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758184" y="2377440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270248" y="239572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FA3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07:00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3758184" y="2944368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14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 par email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3758184" y="3584448"/>
            <a:ext cx="2148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78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Synthèse rédigée par l'IA, six cartes KPI, courbe des 7 derniers jours, encadré d'alerte, lien direct vers le dashboard.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327648" y="2103120"/>
            <a:ext cx="2624328" cy="2926080"/>
          </a:xfrm>
          <a:prstGeom prst="roundRect">
            <a:avLst>
              <a:gd name="adj" fmla="val 3833"/>
            </a:avLst>
          </a:prstGeom>
          <a:solidFill>
            <a:srgbClr val="F3F7F1"/>
          </a:solidFill>
          <a:ln w="6350">
            <a:solidFill>
              <a:srgbClr val="F3F7F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601968" y="2359152"/>
            <a:ext cx="402336" cy="402336"/>
          </a:xfrm>
          <a:prstGeom prst="ellipse">
            <a:avLst/>
          </a:prstGeom>
          <a:solidFill>
            <a:srgbClr val="F28C2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601968" y="2377440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7114032" y="239572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8C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Journée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6601968" y="2944368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14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temps réel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601968" y="3584448"/>
            <a:ext cx="2148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78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Consultation web ou mobile, bascule FCFA/EUR, question libre à l'assistant, comparaison au cours mondial du CPO.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171432" y="2103120"/>
            <a:ext cx="2624328" cy="2926080"/>
          </a:xfrm>
          <a:prstGeom prst="roundRect">
            <a:avLst>
              <a:gd name="adj" fmla="val 3833"/>
            </a:avLst>
          </a:prstGeom>
          <a:solidFill>
            <a:srgbClr val="F3F7F1"/>
          </a:solidFill>
          <a:ln w="6350">
            <a:solidFill>
              <a:srgbClr val="F3F7F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445752" y="2359152"/>
            <a:ext cx="402336" cy="402336"/>
          </a:xfrm>
          <a:prstGeom prst="ellipse">
            <a:avLst/>
          </a:prstGeom>
          <a:solidFill>
            <a:srgbClr val="3FA34D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445752" y="2377440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9957816" y="239572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FA3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 de mois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9445752" y="2944368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14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 de résultat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9445752" y="3584448"/>
            <a:ext cx="2148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78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P&amp;L du mois se compose seul et s'exporte en PDF au format attendu par le comptable et la banque.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0080" y="5303520"/>
            <a:ext cx="10911535" cy="621792"/>
          </a:xfrm>
          <a:prstGeom prst="roundRect">
            <a:avLst>
              <a:gd name="adj" fmla="val 16176"/>
            </a:avLst>
          </a:prstGeom>
          <a:solidFill>
            <a:srgbClr val="F0F6EF"/>
          </a:solidFill>
          <a:ln w="6350">
            <a:solidFill>
              <a:srgbClr val="F0F6E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14400" y="5303520"/>
            <a:ext cx="103628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Conséquence commerciale : l'usage ne dépend pas de la discipline de connexion du client — le produit se rappelle à lui deux fois par jour.</a:t>
            </a:r>
            <a:endParaRPr lang="en-US" sz="1250" dirty="0"/>
          </a:p>
        </p:txBody>
      </p:sp>
      <p:sp>
        <p:nvSpPr>
          <p:cNvPr id="32" name="Text 29"/>
          <p:cNvSpPr txBox="1"/>
          <p:nvPr/>
        </p:nvSpPr>
        <p:spPr>
          <a:xfrm>
            <a:off x="11277295" y="6382512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C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LE PRODUIT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21792"/>
            <a:ext cx="109115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1426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compte de résultat, généré tout seul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43584"/>
            <a:ext cx="1036289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8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document mensuel prêt pour le comptable, la banque et l'actionnaire — en FCFA ou en euros, avec la colonne « par tonne » que le secteur utilise pour se comparer.</a:t>
            </a:r>
            <a:endParaRPr lang="en-US" sz="1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103120"/>
          <a:ext cx="704088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2103120"/>
                <a:gridCol w="173736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C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FCFA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C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 tonne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C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6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Ventes Huile CPO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C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426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386 800 000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C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6B78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778 270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C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6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Ventes Noix Palmiste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C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426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11 800 000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C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6B78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23 742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C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426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Produits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C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426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398 600 000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C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6B78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802 012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C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6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Coût Matière Première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C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E05C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 242 600 000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C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6B78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488 129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C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6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Charges d'Exploitation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C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E05C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 84 200 000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C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6B78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169 416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C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6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Amortissements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C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E05C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 18 000 000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C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6B78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36 217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C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426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Charges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C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E05C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 344 800 000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C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6B78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693 762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C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RÉSULTAT NET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C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+ 53 800 000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C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108 250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C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40080" y="2103120"/>
            <a:ext cx="7040880" cy="329184"/>
          </a:xfrm>
          <a:prstGeom prst="rect">
            <a:avLst/>
          </a:prstGeom>
          <a:solidFill>
            <a:srgbClr val="0F2A1D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40664" y="2103120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Ligne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3840480" y="210312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FCFA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5943600" y="210312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tonne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40080" y="4736592"/>
            <a:ext cx="7040880" cy="329184"/>
          </a:xfrm>
          <a:prstGeom prst="rect">
            <a:avLst/>
          </a:prstGeom>
          <a:solidFill>
            <a:srgbClr val="3FA34D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40664" y="4736592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 NET</a:t>
            </a:r>
            <a:endParaRPr lang="en-US" sz="1150" dirty="0"/>
          </a:p>
        </p:txBody>
      </p:sp>
      <p:sp>
        <p:nvSpPr>
          <p:cNvPr id="12" name="Text 9"/>
          <p:cNvSpPr txBox="1"/>
          <p:nvPr/>
        </p:nvSpPr>
        <p:spPr>
          <a:xfrm>
            <a:off x="3840480" y="473659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+ 53 800 000</a:t>
            </a:r>
            <a:endParaRPr lang="en-US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5943600" y="4736592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108 250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8001000" y="2148840"/>
            <a:ext cx="274320" cy="274320"/>
          </a:xfrm>
          <a:prstGeom prst="ellipse">
            <a:avLst/>
          </a:prstGeom>
          <a:solidFill>
            <a:srgbClr val="3FA34D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8001000" y="2167128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8394192" y="210312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OHADA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8394192" y="2386584"/>
            <a:ext cx="3154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6B78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Structuré selon le plan comptable SYSCOHADA, celui qu'attendent les cabinets de la zone franc.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8001000" y="3154680"/>
            <a:ext cx="274320" cy="274320"/>
          </a:xfrm>
          <a:prstGeom prst="ellipse">
            <a:avLst/>
          </a:prstGeom>
          <a:solidFill>
            <a:srgbClr val="F28C28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8001000" y="3172968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8394192" y="310896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PDF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8394192" y="3392424"/>
            <a:ext cx="3154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6B78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mis en page, logo et couleurs du client, badge « document officiel ».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8001000" y="4160520"/>
            <a:ext cx="274320" cy="274320"/>
          </a:xfrm>
          <a:prstGeom prst="ellipse">
            <a:avLst/>
          </a:prstGeom>
          <a:solidFill>
            <a:srgbClr val="3FA34D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8001000" y="4178808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8394192" y="411480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Triple devise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8394192" y="4398264"/>
            <a:ext cx="3154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6B78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FCFA, euro et dollar — le même P&amp;L pour la direction locale et un investisseur étranger.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8001000" y="5166360"/>
            <a:ext cx="274320" cy="274320"/>
          </a:xfrm>
          <a:prstGeom prst="ellipse">
            <a:avLst/>
          </a:prstGeom>
          <a:solidFill>
            <a:srgbClr val="F28C28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8001000" y="5184648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8394192" y="512064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Non-régression testée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8394192" y="5404104"/>
            <a:ext cx="3154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6B78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test « golden » verrouille les chiffres du compte de résultat : aucune évolution de code ne peut les déplacer en silence.</a:t>
            </a:r>
            <a:endParaRPr lang="en-US" sz="1050" dirty="0"/>
          </a:p>
        </p:txBody>
      </p:sp>
      <p:sp>
        <p:nvSpPr>
          <p:cNvPr id="30" name="Text 27"/>
          <p:cNvSpPr txBox="1"/>
          <p:nvPr/>
        </p:nvSpPr>
        <p:spPr>
          <a:xfrm>
            <a:off x="640080" y="6382512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8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Jeu de démonstration anonymisé (« Huilerie Sédia », juin 2026) — 497 tonnes d'huile produites. Marge nette : 13,5 %.</a:t>
            </a:r>
            <a:endParaRPr lang="en-US" sz="900" dirty="0"/>
          </a:p>
        </p:txBody>
      </p:sp>
      <p:sp>
        <p:nvSpPr>
          <p:cNvPr id="32" name="Text 28"/>
          <p:cNvSpPr txBox="1"/>
          <p:nvPr/>
        </p:nvSpPr>
        <p:spPr>
          <a:xfrm>
            <a:off x="11277295" y="6382512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C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2A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L'ADAPTATION À L'EXISTANT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21792"/>
            <a:ext cx="109115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Palmeo s'adapte au client, pas l'inverse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43584"/>
            <a:ext cx="1036289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DA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L'obstacle numéro un à la vente n'est pas le prix : c'est la peur de changer de système. Palmeo se branche sur ce qui existe déjà.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3502152" cy="2971800"/>
          </a:xfrm>
          <a:prstGeom prst="roundRect">
            <a:avLst>
              <a:gd name="adj" fmla="val 3692"/>
            </a:avLst>
          </a:prstGeom>
          <a:solidFill>
            <a:srgbClr val="1A3323"/>
          </a:solidFill>
          <a:ln w="9525">
            <a:solidFill>
              <a:srgbClr val="2A46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32688" y="2615184"/>
            <a:ext cx="329184" cy="329184"/>
          </a:xfrm>
          <a:prstGeom prst="ellipse">
            <a:avLst/>
          </a:prstGeom>
          <a:solidFill>
            <a:srgbClr val="F28C2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32688" y="3054096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internes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932688" y="3438144"/>
            <a:ext cx="2944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Excel, CSV, Google Sheets, Dropbox, fichiers maison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932688" y="4169664"/>
            <a:ext cx="29443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DA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et normalisation des fichiers existants. Aucun ERP requis, aucune réorganisation de l'équipe.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416552" y="2331720"/>
            <a:ext cx="3502152" cy="2971800"/>
          </a:xfrm>
          <a:prstGeom prst="roundRect">
            <a:avLst>
              <a:gd name="adj" fmla="val 3692"/>
            </a:avLst>
          </a:prstGeom>
          <a:solidFill>
            <a:srgbClr val="1A3323"/>
          </a:solidFill>
          <a:ln w="22225">
            <a:solidFill>
              <a:srgbClr val="3FA34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49240" y="2139696"/>
            <a:ext cx="1645920" cy="310896"/>
          </a:xfrm>
          <a:prstGeom prst="roundRect">
            <a:avLst>
              <a:gd name="adj" fmla="val 50000"/>
            </a:avLst>
          </a:prstGeom>
          <a:solidFill>
            <a:srgbClr val="3FA34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349240" y="2139696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PLUS COURANT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709160" y="2615184"/>
            <a:ext cx="329184" cy="329184"/>
          </a:xfrm>
          <a:prstGeom prst="ellipse">
            <a:avLst/>
          </a:prstGeom>
          <a:solidFill>
            <a:srgbClr val="3FA34D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709160" y="3054096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Intégration ERP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709160" y="3438144"/>
            <a:ext cx="2944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FA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Odoo, Sage, SAP, Dynamics 365, Cegid, EBP, QuickBooks, API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4709160" y="4169664"/>
            <a:ext cx="29443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DA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Synchronisation automatique depuis le système comptable en place. Zéro double saisie.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193024" y="2331720"/>
            <a:ext cx="3502152" cy="2971800"/>
          </a:xfrm>
          <a:prstGeom prst="roundRect">
            <a:avLst>
              <a:gd name="adj" fmla="val 3692"/>
            </a:avLst>
          </a:prstGeom>
          <a:solidFill>
            <a:srgbClr val="1A3323"/>
          </a:solidFill>
          <a:ln w="9525">
            <a:solidFill>
              <a:srgbClr val="2A46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485632" y="2615184"/>
            <a:ext cx="329184" cy="329184"/>
          </a:xfrm>
          <a:prstGeom prst="ellipse">
            <a:avLst/>
          </a:prstGeom>
          <a:solidFill>
            <a:srgbClr val="F28C2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485632" y="3054096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mesure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8485632" y="3438144"/>
            <a:ext cx="2944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dédiée, modules spécifiques, intégration terrain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8485632" y="4169664"/>
            <a:ext cx="29443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DA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les huileries à processus atypique : conception et développement dédiés.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40080" y="5532120"/>
            <a:ext cx="10911535" cy="658368"/>
          </a:xfrm>
          <a:prstGeom prst="roundRect">
            <a:avLst>
              <a:gd name="adj" fmla="val 16667"/>
            </a:avLst>
          </a:prstGeom>
          <a:solidFill>
            <a:srgbClr val="3FA34D">
              <a:alpha val="15000"/>
            </a:srgbClr>
          </a:solidFill>
          <a:ln w="9525">
            <a:solidFill>
              <a:srgbClr val="3FA34D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14400" y="5532120"/>
            <a:ext cx="103628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sources de données annoncées commercialement  ·  connecteur Excel/Dropbox et connecteur Sage on-site déjà écrits  ·  les autres passent par un script d'import dédié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11277295" y="6382512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DA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L'ARCHITECTURE QUI SCALE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21792"/>
            <a:ext cx="109115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1426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client de plus, pas un produit de plus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43584"/>
            <a:ext cx="1036289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8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plateforme a été refondue en quatre étapes pour que l'ajout d'une huilerie soit une opération de configuration, pas de développement.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5303520" cy="1828800"/>
          </a:xfrm>
          <a:prstGeom prst="roundRect">
            <a:avLst>
              <a:gd name="adj" fmla="val 5500"/>
            </a:avLst>
          </a:prstGeom>
          <a:solidFill>
            <a:srgbClr val="F3F7F1"/>
          </a:solidFill>
          <a:ln w="6350">
            <a:solidFill>
              <a:srgbClr val="F3F7F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359152"/>
            <a:ext cx="329184" cy="329184"/>
          </a:xfrm>
          <a:prstGeom prst="ellipse">
            <a:avLst/>
          </a:prstGeom>
          <a:solidFill>
            <a:srgbClr val="3FA34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353312" y="2359152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par construction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1353312" y="2798064"/>
            <a:ext cx="4343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45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6B78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table porte l'identifiant du client</a:t>
            </a:r>
            <a:endParaRPr lang="en-US" sz="1100" dirty="0"/>
          </a:p>
          <a:p>
            <a:pPr marL="342900" indent="-342900">
              <a:lnSpc>
                <a:spcPts val="145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6B78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Cloisonnement appliqué par la base elle-même</a:t>
            </a:r>
            <a:endParaRPr lang="en-US" sz="1100" dirty="0"/>
          </a:p>
          <a:p>
            <a:pPr marL="342900" indent="-342900">
              <a:lnSpc>
                <a:spcPts val="145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6B78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donnée client en dur dans le code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309360" y="2103120"/>
            <a:ext cx="5303520" cy="1828800"/>
          </a:xfrm>
          <a:prstGeom prst="roundRect">
            <a:avLst>
              <a:gd name="adj" fmla="val 5500"/>
            </a:avLst>
          </a:prstGeom>
          <a:solidFill>
            <a:srgbClr val="F3F7F1"/>
          </a:solidFill>
          <a:ln w="6350">
            <a:solidFill>
              <a:srgbClr val="F3F7F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0" y="2359152"/>
            <a:ext cx="329184" cy="329184"/>
          </a:xfrm>
          <a:prstGeom prst="ellipse">
            <a:avLst/>
          </a:prstGeom>
          <a:solidFill>
            <a:srgbClr val="F28C2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022592" y="2359152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par rôle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7022592" y="2798064"/>
            <a:ext cx="4343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45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6B78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Propriétaire, gestionnaire, lecteur</a:t>
            </a:r>
            <a:endParaRPr lang="en-US" sz="1100" dirty="0"/>
          </a:p>
          <a:p>
            <a:pPr marL="342900" indent="-342900">
              <a:lnSpc>
                <a:spcPts val="145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6B78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Super-admins plateforme distincts des clients</a:t>
            </a:r>
            <a:endParaRPr lang="en-US" sz="1100" dirty="0"/>
          </a:p>
          <a:p>
            <a:pPr marL="342900" indent="-342900">
              <a:lnSpc>
                <a:spcPts val="145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6B78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Invitation par email, activation obligatoire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4114800"/>
            <a:ext cx="5303520" cy="1828800"/>
          </a:xfrm>
          <a:prstGeom prst="roundRect">
            <a:avLst>
              <a:gd name="adj" fmla="val 5500"/>
            </a:avLst>
          </a:prstGeom>
          <a:solidFill>
            <a:srgbClr val="F3F7F1"/>
          </a:solidFill>
          <a:ln w="6350">
            <a:solidFill>
              <a:srgbClr val="F3F7F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4370832"/>
            <a:ext cx="329184" cy="329184"/>
          </a:xfrm>
          <a:prstGeom prst="ellipse">
            <a:avLst/>
          </a:prstGeom>
          <a:solidFill>
            <a:srgbClr val="3FA34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353312" y="4370832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sécurisée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1353312" y="4809744"/>
            <a:ext cx="4343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45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6B78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Clé d'ingestion propre à chaque client</a:t>
            </a:r>
            <a:endParaRPr lang="en-US" sz="1100" dirty="0"/>
          </a:p>
          <a:p>
            <a:pPr marL="342900" indent="-342900">
              <a:lnSpc>
                <a:spcPts val="145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6B78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Seule son empreinte est stockée</a:t>
            </a:r>
            <a:endParaRPr lang="en-US" sz="1100" dirty="0"/>
          </a:p>
          <a:p>
            <a:pPr marL="342900" indent="-342900">
              <a:lnSpc>
                <a:spcPts val="145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6B78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client est imposé côté serveur : une clé volée chez A n'écrit pas chez B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309360" y="4114800"/>
            <a:ext cx="5303520" cy="1828800"/>
          </a:xfrm>
          <a:prstGeom prst="roundRect">
            <a:avLst>
              <a:gd name="adj" fmla="val 5500"/>
            </a:avLst>
          </a:prstGeom>
          <a:solidFill>
            <a:srgbClr val="F3F7F1"/>
          </a:solidFill>
          <a:ln w="6350">
            <a:solidFill>
              <a:srgbClr val="F3F7F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83680" y="4370832"/>
            <a:ext cx="329184" cy="329184"/>
          </a:xfrm>
          <a:prstGeom prst="ellipse">
            <a:avLst/>
          </a:prstGeom>
          <a:solidFill>
            <a:srgbClr val="F28C2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022592" y="4370832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Exploitation outillée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7022592" y="4809744"/>
            <a:ext cx="4343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45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6B78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Migrations de schéma versionnées</a:t>
            </a:r>
            <a:endParaRPr lang="en-US" sz="1100" dirty="0"/>
          </a:p>
          <a:p>
            <a:pPr marL="342900" indent="-342900">
              <a:lnSpc>
                <a:spcPts val="145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6B78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Battements de cœur des agents d'import</a:t>
            </a:r>
            <a:endParaRPr lang="en-US" sz="1100" dirty="0"/>
          </a:p>
          <a:p>
            <a:pPr marL="342900" indent="-342900">
              <a:lnSpc>
                <a:spcPts val="145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6B78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 d'audit de toutes les actions admin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11277295" y="6382512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C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L'ARCHITECTURE QUI SCALE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21792"/>
            <a:ext cx="109115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1426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la signature à la première donnée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43584"/>
            <a:ext cx="1036289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8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parcours d'accueil d'une nouvelle huilerie, tel qu'il est documenté et outillé aujourd'hui.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212848"/>
            <a:ext cx="457200" cy="457200"/>
          </a:xfrm>
          <a:prstGeom prst="ellipse">
            <a:avLst/>
          </a:prstGeom>
          <a:solidFill>
            <a:srgbClr val="3FA34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2231136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389888" y="2103120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le client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89888" y="2487168"/>
            <a:ext cx="1225296" cy="256032"/>
          </a:xfrm>
          <a:prstGeom prst="roundRect">
            <a:avLst>
              <a:gd name="adj" fmla="val 50000"/>
            </a:avLst>
          </a:prstGeom>
          <a:solidFill>
            <a:srgbClr val="3FA34D">
              <a:alpha val="15000"/>
            </a:srgbClr>
          </a:solidFill>
          <a:ln w="7620">
            <a:solidFill>
              <a:srgbClr val="3FA34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389888" y="2487168"/>
            <a:ext cx="1225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admin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206240" y="2066544"/>
            <a:ext cx="42519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8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la console : identifiant, nom, pays, plan, couleurs de marque, expéditeur des rapports, capacité de cuve, premier utilisateur.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3218688"/>
            <a:ext cx="457200" cy="457200"/>
          </a:xfrm>
          <a:prstGeom prst="ellipse">
            <a:avLst/>
          </a:prstGeom>
          <a:solidFill>
            <a:srgbClr val="F28C2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31520" y="3236976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389888" y="3108960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Déclarer les sources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1389888" y="3493008"/>
            <a:ext cx="1225296" cy="256032"/>
          </a:xfrm>
          <a:prstGeom prst="roundRect">
            <a:avLst>
              <a:gd name="adj" fmla="val 50000"/>
            </a:avLst>
          </a:prstGeom>
          <a:solidFill>
            <a:srgbClr val="F28C28">
              <a:alpha val="15000"/>
            </a:srgbClr>
          </a:solidFill>
          <a:ln w="7620">
            <a:solidFill>
              <a:srgbClr val="F28C2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389888" y="3493008"/>
            <a:ext cx="1225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admin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4206240" y="3072384"/>
            <a:ext cx="42519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8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entrée par source de données : type, emplacement, moyen d'accès, fréquence, notes pour l'intégrateur.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" y="4224528"/>
            <a:ext cx="457200" cy="457200"/>
          </a:xfrm>
          <a:prstGeom prst="ellipse">
            <a:avLst/>
          </a:prstGeom>
          <a:solidFill>
            <a:srgbClr val="3FA34D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31520" y="4242816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389888" y="4114800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Brancher l'import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1389888" y="4498848"/>
            <a:ext cx="1225296" cy="256032"/>
          </a:xfrm>
          <a:prstGeom prst="roundRect">
            <a:avLst>
              <a:gd name="adj" fmla="val 50000"/>
            </a:avLst>
          </a:prstGeom>
          <a:solidFill>
            <a:srgbClr val="3FA34D">
              <a:alpha val="15000"/>
            </a:srgbClr>
          </a:solidFill>
          <a:ln w="7620">
            <a:solidFill>
              <a:srgbClr val="3FA34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389888" y="4498848"/>
            <a:ext cx="1225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4206240" y="4078224"/>
            <a:ext cx="42519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8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Excel/Dropbox : réutilisation du connecteur existant, simulation à blanc puis import réel. Sage : clé d'ingestion et agent on-site. Autres : script dédié.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31520" y="5230368"/>
            <a:ext cx="457200" cy="457200"/>
          </a:xfrm>
          <a:prstGeom prst="ellipse">
            <a:avLst/>
          </a:prstGeom>
          <a:solidFill>
            <a:srgbClr val="F28C28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31520" y="5248656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1389888" y="5120640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Vérifier &amp; activer</a:t>
            </a:r>
            <a:endParaRPr lang="en-US" sz="1450" dirty="0"/>
          </a:p>
        </p:txBody>
      </p:sp>
      <p:sp>
        <p:nvSpPr>
          <p:cNvPr id="26" name="Shape 24"/>
          <p:cNvSpPr/>
          <p:nvPr/>
        </p:nvSpPr>
        <p:spPr>
          <a:xfrm>
            <a:off x="1389888" y="5504688"/>
            <a:ext cx="1225296" cy="256032"/>
          </a:xfrm>
          <a:prstGeom prst="roundRect">
            <a:avLst>
              <a:gd name="adj" fmla="val 50000"/>
            </a:avLst>
          </a:prstGeom>
          <a:solidFill>
            <a:srgbClr val="F28C28">
              <a:alpha val="15000"/>
            </a:srgbClr>
          </a:solidFill>
          <a:ln w="7620">
            <a:solidFill>
              <a:srgbClr val="F28C2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389888" y="5504688"/>
            <a:ext cx="1225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4206240" y="5084064"/>
            <a:ext cx="42519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8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Invitation reçue, marque affichée, cloisonnement des données contrôlé, rapport quotidien testé, puis activation du cron.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732520" y="2011680"/>
            <a:ext cx="2816352" cy="3931920"/>
          </a:xfrm>
          <a:prstGeom prst="roundRect">
            <a:avLst>
              <a:gd name="adj" fmla="val 3571"/>
            </a:avLst>
          </a:prstGeom>
          <a:solidFill>
            <a:srgbClr val="FDF3E8"/>
          </a:solidFill>
          <a:ln w="6350">
            <a:solidFill>
              <a:srgbClr val="FDF3E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988552" y="2249424"/>
            <a:ext cx="2331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4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point de friction restant</a:t>
            </a:r>
            <a:endParaRPr lang="en-US" sz="1350" dirty="0"/>
          </a:p>
        </p:txBody>
      </p:sp>
      <p:sp>
        <p:nvSpPr>
          <p:cNvPr id="31" name="Text 29"/>
          <p:cNvSpPr txBox="1"/>
          <p:nvPr/>
        </p:nvSpPr>
        <p:spPr>
          <a:xfrm>
            <a:off x="8988552" y="2962656"/>
            <a:ext cx="2331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78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L'étape 3 n'est automatique que pour Excel/Dropbox et Sage. Toute autre source demande encore du développement — et la planification récurrente de l'import se règle client par client.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8988552" y="498348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b="1" i="1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industrialiser en priorité pour vendre au-delà du premier cercle.</a:t>
            </a:r>
            <a:endParaRPr lang="en-US" sz="1100" dirty="0"/>
          </a:p>
        </p:txBody>
      </p:sp>
      <p:sp>
        <p:nvSpPr>
          <p:cNvPr id="34" name="Text 31"/>
          <p:cNvSpPr txBox="1"/>
          <p:nvPr/>
        </p:nvSpPr>
        <p:spPr>
          <a:xfrm>
            <a:off x="11277295" y="6382512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C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L'ARCHITECTURE QUI SCALE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21792"/>
            <a:ext cx="109115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1426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console qui rend l'exploitation tenable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43584"/>
            <a:ext cx="1036289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8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Vendre à dix huileries suppose de savoir, sans ouvrir un terminal, laquelle est en panne d'import ce matin.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3502152" cy="1828800"/>
          </a:xfrm>
          <a:prstGeom prst="roundRect">
            <a:avLst>
              <a:gd name="adj" fmla="val 5500"/>
            </a:avLst>
          </a:prstGeom>
          <a:solidFill>
            <a:srgbClr val="F3F7F1"/>
          </a:solidFill>
          <a:ln w="6350">
            <a:solidFill>
              <a:srgbClr val="F3F7F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331720"/>
            <a:ext cx="292608" cy="292608"/>
          </a:xfrm>
          <a:prstGeom prst="ellipse">
            <a:avLst/>
          </a:prstGeom>
          <a:solidFill>
            <a:srgbClr val="3FA34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316736" y="2313432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 clients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770632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6B78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huilerie, son plan, son état d'activité et la fraîcheur de ses données en un coup d'œil — les clients silencieux depuis plus de sept jours ressortent seuls.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416552" y="2057400"/>
            <a:ext cx="3502152" cy="1828800"/>
          </a:xfrm>
          <a:prstGeom prst="roundRect">
            <a:avLst>
              <a:gd name="adj" fmla="val 5500"/>
            </a:avLst>
          </a:prstGeom>
          <a:solidFill>
            <a:srgbClr val="F3F7F1"/>
          </a:solidFill>
          <a:ln w="6350">
            <a:solidFill>
              <a:srgbClr val="F3F7F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90872" y="2331720"/>
            <a:ext cx="292608" cy="292608"/>
          </a:xfrm>
          <a:prstGeom prst="ellipse">
            <a:avLst/>
          </a:prstGeom>
          <a:solidFill>
            <a:srgbClr val="F28C2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093208" y="2313432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Intégrations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690872" y="2770632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6B78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déclarées, clés d'ingestion actives ou révoquées, historique des exécutions d'import et de leurs erreurs.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193024" y="2057400"/>
            <a:ext cx="3502152" cy="1828800"/>
          </a:xfrm>
          <a:prstGeom prst="roundRect">
            <a:avLst>
              <a:gd name="adj" fmla="val 5500"/>
            </a:avLst>
          </a:prstGeom>
          <a:solidFill>
            <a:srgbClr val="F3F7F1"/>
          </a:solidFill>
          <a:ln w="6350">
            <a:solidFill>
              <a:srgbClr val="F3F7F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67344" y="2331720"/>
            <a:ext cx="292608" cy="292608"/>
          </a:xfrm>
          <a:prstGeom prst="ellipse">
            <a:avLst/>
          </a:prstGeom>
          <a:solidFill>
            <a:srgbClr val="3FA34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869680" y="2313432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Utilisateurs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467344" y="2770632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6B78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Invitation, changement de rôle, retrait — sans intervention en base de données.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4069080"/>
            <a:ext cx="3502152" cy="1828800"/>
          </a:xfrm>
          <a:prstGeom prst="roundRect">
            <a:avLst>
              <a:gd name="adj" fmla="val 5500"/>
            </a:avLst>
          </a:prstGeom>
          <a:solidFill>
            <a:srgbClr val="F3F7F1"/>
          </a:solidFill>
          <a:ln w="6350">
            <a:solidFill>
              <a:srgbClr val="F3F7F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4400" y="4343400"/>
            <a:ext cx="292608" cy="292608"/>
          </a:xfrm>
          <a:prstGeom prst="ellipse">
            <a:avLst/>
          </a:prstGeom>
          <a:solidFill>
            <a:srgbClr val="F28C2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316736" y="4325112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comptable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914400" y="4782312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6B78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Défauts SYSCOHADA au niveau plateforme, surcharges par client : plus aucune règle comptable codée en dur.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416552" y="4069080"/>
            <a:ext cx="3502152" cy="1828800"/>
          </a:xfrm>
          <a:prstGeom prst="roundRect">
            <a:avLst>
              <a:gd name="adj" fmla="val 5500"/>
            </a:avLst>
          </a:prstGeom>
          <a:solidFill>
            <a:srgbClr val="F3F7F1"/>
          </a:solidFill>
          <a:ln w="6350">
            <a:solidFill>
              <a:srgbClr val="F3F7F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90872" y="4343400"/>
            <a:ext cx="292608" cy="292608"/>
          </a:xfrm>
          <a:prstGeom prst="ellipse">
            <a:avLst/>
          </a:prstGeom>
          <a:solidFill>
            <a:srgbClr val="3FA34D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093208" y="4325112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 d'audit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4690872" y="4782312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6B78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 a changé quoi, sur quel client, quand — les actions sensibles sont marquées.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193024" y="4069080"/>
            <a:ext cx="3502152" cy="1828800"/>
          </a:xfrm>
          <a:prstGeom prst="roundRect">
            <a:avLst>
              <a:gd name="adj" fmla="val 5500"/>
            </a:avLst>
          </a:prstGeom>
          <a:solidFill>
            <a:srgbClr val="0F2A1D"/>
          </a:solidFill>
          <a:ln w="6350">
            <a:solidFill>
              <a:srgbClr val="0F2A1D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467344" y="431596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ça vaut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8467344" y="466344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E8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support ne consomme plus de temps de développeur : l'opérateur diagnostique et corrige depuis l'interface.</a:t>
            </a:r>
            <a:endParaRPr lang="en-US" sz="1150" dirty="0"/>
          </a:p>
        </p:txBody>
      </p:sp>
      <p:sp>
        <p:nvSpPr>
          <p:cNvPr id="29" name="Text 26"/>
          <p:cNvSpPr txBox="1"/>
          <p:nvPr/>
        </p:nvSpPr>
        <p:spPr>
          <a:xfrm>
            <a:off x="11277295" y="6382512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C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ÉTAT D'AVANCEMENT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21792"/>
            <a:ext cx="109115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1426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Où en est réellement le produit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43584"/>
            <a:ext cx="1036289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8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client fondateur en production, une plateforme multi-tenant prête, et un chantier d'industrialisation clairement identifié.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2624328" cy="1417320"/>
          </a:xfrm>
          <a:prstGeom prst="roundRect">
            <a:avLst>
              <a:gd name="adj" fmla="val 7097"/>
            </a:avLst>
          </a:prstGeom>
          <a:solidFill>
            <a:srgbClr val="F3F7F1"/>
          </a:solidFill>
          <a:ln w="6350">
            <a:solidFill>
              <a:srgbClr val="F3F7F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77824" y="2139696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8C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877824" y="268833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en production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77824" y="294436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6B78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APO, Côte d'Ivoire — le client fondateur, données réelles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483864" y="2011680"/>
            <a:ext cx="2624328" cy="1417320"/>
          </a:xfrm>
          <a:prstGeom prst="roundRect">
            <a:avLst>
              <a:gd name="adj" fmla="val 7097"/>
            </a:avLst>
          </a:prstGeom>
          <a:solidFill>
            <a:srgbClr val="F3F7F1"/>
          </a:solidFill>
          <a:ln w="6350">
            <a:solidFill>
              <a:srgbClr val="F3F7F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721608" y="2139696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FA3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3721608" y="268833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métier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721608" y="294436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6B78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production, ventes, caisses, banque, achats, KPI, référentiels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327648" y="2011680"/>
            <a:ext cx="2624328" cy="1417320"/>
          </a:xfrm>
          <a:prstGeom prst="roundRect">
            <a:avLst>
              <a:gd name="adj" fmla="val 7097"/>
            </a:avLst>
          </a:prstGeom>
          <a:solidFill>
            <a:srgbClr val="F3F7F1"/>
          </a:solidFill>
          <a:ln w="6350">
            <a:solidFill>
              <a:srgbClr val="F3F7F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65392" y="2139696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8C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3200" dirty="0"/>
          </a:p>
        </p:txBody>
      </p:sp>
      <p:sp>
        <p:nvSpPr>
          <p:cNvPr id="15" name="Text 13"/>
          <p:cNvSpPr txBox="1"/>
          <p:nvPr/>
        </p:nvSpPr>
        <p:spPr>
          <a:xfrm>
            <a:off x="6565392" y="268833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applicatifs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565392" y="294436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6B78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IA, rapports, alertes, ingestion, cours du marché, administration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9171432" y="2011680"/>
            <a:ext cx="2624328" cy="1417320"/>
          </a:xfrm>
          <a:prstGeom prst="roundRect">
            <a:avLst>
              <a:gd name="adj" fmla="val 7097"/>
            </a:avLst>
          </a:prstGeom>
          <a:solidFill>
            <a:srgbClr val="F3F7F1"/>
          </a:solidFill>
          <a:ln w="6350">
            <a:solidFill>
              <a:srgbClr val="F3F7F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409176" y="2139696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FA3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~17 700</a:t>
            </a:r>
            <a:endParaRPr lang="en-US" sz="3200" dirty="0"/>
          </a:p>
        </p:txBody>
      </p:sp>
      <p:sp>
        <p:nvSpPr>
          <p:cNvPr id="19" name="Text 17"/>
          <p:cNvSpPr txBox="1"/>
          <p:nvPr/>
        </p:nvSpPr>
        <p:spPr>
          <a:xfrm>
            <a:off x="9409176" y="268833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lignes de code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9409176" y="294436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6B78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application, console, imports, services et site vitrine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37033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3FA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LIVRÉ ET EN SERVICE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4023360"/>
            <a:ext cx="5212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4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complet, web et mobile, en production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4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 de résultat mensuel et export PDF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4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 IA connecté aux données du client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4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 quotidien par email et alertes push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4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Socle multi-tenant, rôles et cloisonnement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4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admin et accueil client par formulaire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6309360" y="37033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TERMINER AVANT LE PREMIER CLIENT PAYANT SUIVANT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6309360" y="4023360"/>
            <a:ext cx="5212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4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Planification automatique des imports pour un nouveau client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4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Rapports automatiques étendus à tous les clients actifs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4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Neutraliser les libellés hérités du client fondateur dans l'interface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4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Connecteur générique pour logiciels comptables et API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4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Sous-domaine et logo par client (hébergement d'image)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4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Trancher le nom de l'assistant : « PALMAI » ou « Palmeo AI »</a:t>
            </a:r>
            <a:endParaRPr lang="en-US" sz="1150" dirty="0"/>
          </a:p>
        </p:txBody>
      </p:sp>
      <p:sp>
        <p:nvSpPr>
          <p:cNvPr id="26" name="Text 23"/>
          <p:cNvSpPr txBox="1"/>
          <p:nvPr/>
        </p:nvSpPr>
        <p:spPr>
          <a:xfrm>
            <a:off x="11277295" y="6382512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C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MODÈLE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21792"/>
            <a:ext cx="109115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1426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Comment Palmeo se monétise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43584"/>
            <a:ext cx="1036289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8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Trois paliers d'abonnement sont déjà inscrits dans la plateforme. La grille tarifaire reste à arbitrer — c'est la principale décision commerciale ouverte.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3502152" cy="3063240"/>
          </a:xfrm>
          <a:prstGeom prst="roundRect">
            <a:avLst>
              <a:gd name="adj" fmla="val 3582"/>
            </a:avLst>
          </a:prstGeom>
          <a:solidFill>
            <a:srgbClr val="F3F7F1"/>
          </a:solidFill>
          <a:ln w="6350">
            <a:solidFill>
              <a:srgbClr val="F3F7F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32688" y="2395728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FA3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Starter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932688" y="279806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8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L'huilerie qui part d'Excel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932688" y="314553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 à définir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932688" y="3547872"/>
            <a:ext cx="2971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4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complet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4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 de résultat mensuel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4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 quotidien par email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4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fichiers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416552" y="2148840"/>
            <a:ext cx="3502152" cy="3063240"/>
          </a:xfrm>
          <a:prstGeom prst="roundRect">
            <a:avLst>
              <a:gd name="adj" fmla="val 3582"/>
            </a:avLst>
          </a:prstGeom>
          <a:solidFill>
            <a:srgbClr val="FDF3E8"/>
          </a:solidFill>
          <a:ln w="22225">
            <a:solidFill>
              <a:srgbClr val="F28C2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709160" y="2395728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8C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4709160" y="279806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8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cœur de cible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709160" y="314553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 à définir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709160" y="3547872"/>
            <a:ext cx="2971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4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Starter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4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 IA sur les données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4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Alertes push et seuils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4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Connecteur ERP ou agent on-site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193024" y="2148840"/>
            <a:ext cx="3502152" cy="3063240"/>
          </a:xfrm>
          <a:prstGeom prst="roundRect">
            <a:avLst>
              <a:gd name="adj" fmla="val 3582"/>
            </a:avLst>
          </a:prstGeom>
          <a:solidFill>
            <a:srgbClr val="F3F7F1"/>
          </a:solidFill>
          <a:ln w="6350">
            <a:solidFill>
              <a:srgbClr val="F3F7F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485632" y="2395728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FA3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Enterprise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8485632" y="279806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8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 ou processus atypique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8485632" y="314553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 à définir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8485632" y="3547872"/>
            <a:ext cx="2971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4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Business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4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et rapports sur mesure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4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Intégration terrain dédiée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4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Accompagnement de bout en bout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5440680"/>
            <a:ext cx="10911535" cy="713232"/>
          </a:xfrm>
          <a:prstGeom prst="roundRect">
            <a:avLst>
              <a:gd name="adj" fmla="val 14103"/>
            </a:avLst>
          </a:prstGeom>
          <a:solidFill>
            <a:srgbClr val="F3F7F1"/>
          </a:solidFill>
          <a:ln w="6350">
            <a:solidFill>
              <a:srgbClr val="F3F7F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14400" y="5440680"/>
            <a:ext cx="10362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14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Décision ouverte :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78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trois paliers existent en base ; les prix, la répartition abonnement / frais de mise en service et le coût du connecteur sur mesure ne sont encore arbitrés nulle part.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11277295" y="6382512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C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2A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-1097280"/>
            <a:ext cx="5852160" cy="5852160"/>
          </a:xfrm>
          <a:prstGeom prst="ellipse">
            <a:avLst/>
          </a:prstGeom>
          <a:solidFill>
            <a:srgbClr val="3FA34D">
              <a:alpha val="12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365760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PROCHAINES ÉTAPES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21792"/>
            <a:ext cx="109115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Trois décisions, puis on vend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640080" y="2176272"/>
            <a:ext cx="512064" cy="512064"/>
          </a:xfrm>
          <a:prstGeom prst="ellipse">
            <a:avLst/>
          </a:prstGeom>
          <a:solidFill>
            <a:srgbClr val="3FA34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2194560"/>
            <a:ext cx="5120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426464" y="2048256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Industrialiser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426464" y="2450592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DA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Planification automatique des imports et rapports pour tout nouveau client, et neutralisation des libellés hérités.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406640" y="217627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3FA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 d'un accueil client sans développeur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3438144"/>
            <a:ext cx="512064" cy="512064"/>
          </a:xfrm>
          <a:prstGeom prst="ellipse">
            <a:avLst/>
          </a:prstGeom>
          <a:solidFill>
            <a:srgbClr val="F28C2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3456432"/>
            <a:ext cx="5120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426464" y="331012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Décider la grille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426464" y="3712464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DA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Fixer les prix des trois paliers et le coût d'intégration selon la source de données.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7406640" y="3438144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 de la première proposition commerciale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4700016"/>
            <a:ext cx="512064" cy="512064"/>
          </a:xfrm>
          <a:prstGeom prst="ellipse">
            <a:avLst/>
          </a:prstGeom>
          <a:solidFill>
            <a:srgbClr val="3FA34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0080" y="4718304"/>
            <a:ext cx="5120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1426464" y="457200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Ouvrir la démo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1426464" y="4974336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DA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de démonstration anonymisé déjà spécifié, avec jeu de données et vidéo de 60 secondes.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406640" y="4700016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3FA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 de la mise en ligne du site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5760720"/>
            <a:ext cx="10911535" cy="566928"/>
          </a:xfrm>
          <a:prstGeom prst="roundRect">
            <a:avLst>
              <a:gd name="adj" fmla="val 19355"/>
            </a:avLst>
          </a:prstGeom>
          <a:solidFill>
            <a:srgbClr val="1A3323"/>
          </a:solidFill>
          <a:ln w="11430">
            <a:solidFill>
              <a:srgbClr val="F28C2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" y="5760720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palmeo.co   ·   app.palmeo.co   ·   contact@palmeo.co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11277295" y="6382512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DA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Palmeo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Palmeo — Présentation business</dc:title>
  <dc:subject>PptxGenJS Presentation</dc:subject>
  <dc:creator>Palmeo</dc:creator>
  <cp:lastModifiedBy>Palmeo</cp:lastModifiedBy>
  <cp:revision>1</cp:revision>
  <dcterms:created xsi:type="dcterms:W3CDTF">2026-09-04T15:04:10Z</dcterms:created>
  <dcterms:modified xsi:type="dcterms:W3CDTF">2026-09-04T15:04:10Z</dcterms:modified>
</cp:coreProperties>
</file>